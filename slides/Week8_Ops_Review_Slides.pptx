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3A"/>
                </a:solidFill>
                <a:latin typeface="Arial"/>
              </a:defRPr>
            </a:pPr>
            <a:r>
              <a:rPr sz="1300" b="0" i="0" u="none" strike="noStrike">
                <a:solidFill>
                  <a:srgbClr val="17203A"/>
                </a:solidFill>
                <a:latin typeface="Arial"/>
              </a:rPr>
              <a:t>Daily Demand: History vs. 45-Day Forecast</a:t>
            </a:r>
          </a:p>
        </c:rich>
      </c:tx>
      <c:layout/>
      <c:overlay val="0"/>
    </c:title>
    <c:autoTitleDeleted val="0"/>
    <c:plotArea>
      <c:layout/>
      <c:lineChart>
        <c:varyColors val="0"/>
        <c:ser>
          <c:idx val="0"/>
          <c:order val="0"/>
          <c:tx>
            <c:strRef>
              <c:f>Sheet1!$B$1</c:f>
              <c:strCache>
                <c:ptCount val="1"/>
                <c:pt idx="0">
                  <c:v>Actual (history)</c:v>
                </c:pt>
              </c:strCache>
            </c:strRef>
          </c:tx>
          <c:spPr>
            <a:solidFill>
              <a:srgbClr val="5A6B94"/>
            </a:solidFill>
            <a:ln w="31750" cap="flat">
              <a:solidFill>
                <a:srgbClr val="5A6B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A6B94"/>
              </a:solidFill>
              <a:ln w="9525" cap="flat">
                <a:solidFill>
                  <a:srgbClr val="5A6B94"/>
                </a:solidFill>
                <a:prstDash val="solid"/>
                <a:round/>
              </a:ln>
              <a:effectLst/>
            </c:spPr>
          </c:marker>
          <c:cat>
            <c:multiLvlStrRef>
              <c:f>Sheet1!$A$2:$A$16</c:f>
              <c:multiLvlStrCache>
                <c:ptCount val="15"/>
                <c:lvl>
                  <c:pt idx="0">
                    <c:v>Dec 01</c:v>
                  </c:pt>
                  <c:pt idx="1">
                    <c:v>Dec 06</c:v>
                  </c:pt>
                  <c:pt idx="2">
                    <c:v>Dec 11</c:v>
                  </c:pt>
                  <c:pt idx="3">
                    <c:v>Dec 16</c:v>
                  </c:pt>
                  <c:pt idx="4">
                    <c:v>Dec 21</c:v>
                  </c:pt>
                  <c:pt idx="5">
                    <c:v>Dec 26</c:v>
                  </c:pt>
                  <c:pt idx="6">
                    <c:v>Dec 31</c:v>
                  </c:pt>
                  <c:pt idx="7">
                    <c:v>Jan 05</c:v>
                  </c:pt>
                  <c:pt idx="8">
                    <c:v>Jan 10</c:v>
                  </c:pt>
                  <c:pt idx="9">
                    <c:v>Jan 15</c:v>
                  </c:pt>
                  <c:pt idx="10">
                    <c:v>Jan 20</c:v>
                  </c:pt>
                  <c:pt idx="11">
                    <c:v>Jan 25</c:v>
                  </c:pt>
                  <c:pt idx="12">
                    <c:v>Jan 30</c:v>
                  </c:pt>
                  <c:pt idx="13">
                    <c:v>Feb 04</c:v>
                  </c:pt>
                  <c:pt idx="14">
                    <c:v>Feb 09</c:v>
                  </c:pt>
                </c:lvl>
              </c:multiLvlStrCache>
            </c:multiLvlStrRef>
          </c:cat>
          <c:val>
            <c:numRef>
              <c:f>Sheet1!$B$2:$B$16</c:f>
              <c:numCache>
                <c:formatCode>General</c:formatCode>
                <c:ptCount val="15"/>
                <c:pt idx="0">
                  <c:v>264</c:v>
                </c:pt>
                <c:pt idx="1">
                  <c:v>257</c:v>
                </c:pt>
                <c:pt idx="2">
                  <c:v>244</c:v>
                </c:pt>
                <c:pt idx="3">
                  <c:v>231</c:v>
                </c:pt>
                <c:pt idx="4">
                  <c:v>283</c:v>
                </c:pt>
                <c:pt idx="5">
                  <c:v>303</c:v>
                </c:pt>
                <c:pt idx="6">
                  <c:v/>
                </c:pt>
                <c:pt idx="7">
                  <c:v/>
                </c:pt>
                <c:pt idx="8">
                  <c:v/>
                </c:pt>
                <c:pt idx="9">
                  <c:v/>
                </c:pt>
                <c:pt idx="10">
                  <c:v/>
                </c:pt>
                <c:pt idx="11">
                  <c:v/>
                </c:pt>
                <c:pt idx="12">
                  <c:v/>
                </c:pt>
                <c:pt idx="13">
                  <c:v/>
                </c:pt>
                <c:pt idx="14">
                  <c:v/>
                </c:pt>
              </c:numCache>
            </c:numRef>
          </c:val>
          <c:smooth val="0"/>
        </c:ser>
        <c:ser>
          <c:idx val="1"/>
          <c:order val="1"/>
          <c:tx>
            <c:strRef>
              <c:f>Sheet1!$C$1</c:f>
              <c:strCache>
                <c:ptCount val="1"/>
                <c:pt idx="0">
                  <c:v>Forecast (45-day)</c:v>
                </c:pt>
              </c:strCache>
            </c:strRef>
          </c:tx>
          <c:spPr>
            <a:solidFill>
              <a:srgbClr val="E07A1F"/>
            </a:solidFill>
            <a:ln w="31750" cap="flat">
              <a:solidFill>
                <a:srgbClr val="E07A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07A1F"/>
              </a:solidFill>
              <a:ln w="9525" cap="flat">
                <a:solidFill>
                  <a:srgbClr val="E07A1F"/>
                </a:solidFill>
                <a:prstDash val="solid"/>
                <a:round/>
              </a:ln>
              <a:effectLst/>
            </c:spPr>
          </c:marker>
          <c:cat>
            <c:multiLvlStrRef>
              <c:f>Sheet1!$A$2:$A$16</c:f>
              <c:multiLvlStrCache>
                <c:ptCount val="15"/>
                <c:lvl>
                  <c:pt idx="0">
                    <c:v>Dec 01</c:v>
                  </c:pt>
                  <c:pt idx="1">
                    <c:v>Dec 06</c:v>
                  </c:pt>
                  <c:pt idx="2">
                    <c:v>Dec 11</c:v>
                  </c:pt>
                  <c:pt idx="3">
                    <c:v>Dec 16</c:v>
                  </c:pt>
                  <c:pt idx="4">
                    <c:v>Dec 21</c:v>
                  </c:pt>
                  <c:pt idx="5">
                    <c:v>Dec 26</c:v>
                  </c:pt>
                  <c:pt idx="6">
                    <c:v>Dec 31</c:v>
                  </c:pt>
                  <c:pt idx="7">
                    <c:v>Jan 05</c:v>
                  </c:pt>
                  <c:pt idx="8">
                    <c:v>Jan 10</c:v>
                  </c:pt>
                  <c:pt idx="9">
                    <c:v>Jan 15</c:v>
                  </c:pt>
                  <c:pt idx="10">
                    <c:v>Jan 20</c:v>
                  </c:pt>
                  <c:pt idx="11">
                    <c:v>Jan 25</c:v>
                  </c:pt>
                  <c:pt idx="12">
                    <c:v>Jan 30</c:v>
                  </c:pt>
                  <c:pt idx="13">
                    <c:v>Feb 04</c:v>
                  </c:pt>
                  <c:pt idx="14">
                    <c:v>Feb 09</c:v>
                  </c:pt>
                </c:lvl>
              </c:multiLvlStrCache>
            </c:multiLvlStrRef>
          </c:cat>
          <c:val>
            <c:numRef>
              <c:f>Sheet1!$C$2:$C$16</c:f>
              <c:numCache>
                <c:formatCode>General</c:formatCode>
                <c:ptCount val="15"/>
                <c:pt idx="0">
                  <c:v/>
                </c:pt>
                <c:pt idx="1">
                  <c:v/>
                </c:pt>
                <c:pt idx="2">
                  <c:v/>
                </c:pt>
                <c:pt idx="3">
                  <c:v/>
                </c:pt>
                <c:pt idx="4">
                  <c:v/>
                </c:pt>
                <c:pt idx="5">
                  <c:v>303</c:v>
                </c:pt>
                <c:pt idx="6">
                  <c:v>250.6</c:v>
                </c:pt>
                <c:pt idx="7">
                  <c:v>274.1</c:v>
                </c:pt>
                <c:pt idx="8">
                  <c:v>236.4</c:v>
                </c:pt>
                <c:pt idx="9">
                  <c:v>208.8</c:v>
                </c:pt>
                <c:pt idx="10">
                  <c:v>208.3</c:v>
                </c:pt>
                <c:pt idx="11">
                  <c:v>249.2</c:v>
                </c:pt>
                <c:pt idx="12">
                  <c:v>207.3</c:v>
                </c:pt>
                <c:pt idx="13">
                  <c:v>204.5</c:v>
                </c:pt>
                <c:pt idx="14">
                  <c:v>231.3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B9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F2"/>
              </a:solidFill>
              <a:prstDash val="solid"/>
              <a:round/>
            </a:ln>
          </c:spPr>
        </c:majorGridlines>
        <c:title>
          <c:tx>
            <c:rich>
              <a:bodyPr/>
              <a:lstStyle/>
              <a:p>
                <a:pPr>
                  <a:defRPr sz="1000" b="0" i="0" u="none" strike="noStrike">
                    <a:solidFill>
                      <a:srgbClr val="5A6B94"/>
                    </a:solidFill>
                    <a:latin typeface="Arial"/>
                  </a:defRPr>
                </a:pPr>
                <a:r>
                  <a:rPr sz="1000" b="0" i="0" u="none" strike="noStrike">
                    <a:solidFill>
                      <a:srgbClr val="5A6B94"/>
                    </a:solidFill>
                    <a:latin typeface="Arial"/>
                  </a:rPr>
                  <a:t>Units / 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9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3A"/>
                </a:solidFill>
                <a:latin typeface="Arial"/>
              </a:defRPr>
            </a:pPr>
            <a:r>
              <a:rPr sz="1300" b="0" i="0" u="none" strike="noStrike">
                <a:solidFill>
                  <a:srgbClr val="17203A"/>
                </a:solidFill>
                <a:latin typeface="Arial"/>
              </a:rPr>
              <a:t>Safety Stock: Before vs. After</a:t>
            </a:r>
          </a:p>
        </c:rich>
      </c:tx>
      <c:layout/>
      <c:overlay val="0"/>
    </c:title>
    <c:autoTitleDeleted val="0"/>
    <c:plotArea>
      <c:layout/>
      <c:barChart>
        <c:barDir val="col"/>
        <c:grouping val="clustered"/>
        <c:varyColors val="0"/>
        <c:ser>
          <c:idx val="0"/>
          <c:order val="0"/>
          <c:tx>
            <c:strRef>
              <c:f>Sheet1!$B$1</c:f>
              <c:strCache>
                <c:ptCount val="1"/>
                <c:pt idx="0">
                  <c:v>Buffer (units)</c:v>
                </c:pt>
              </c:strCache>
            </c:strRef>
          </c:tx>
          <c:spPr>
            <a:solidFill>
              <a:srgbClr val="5A6B94"/>
            </a:solidFill>
            <a:effectLst/>
          </c:spPr>
          <c:invertIfNegative val="0"/>
          <c:dLbls>
            <c:numFmt formatCode="#,##0" sourceLinked="0"/>
            <c:txPr>
              <a:bodyPr/>
              <a:lstStyle/>
              <a:p>
                <a:pPr>
                  <a:defRPr b="0" i="0" strike="noStrike" sz="1200" u="none">
                    <a:solidFill>
                      <a:srgbClr val="17203A"/>
                    </a:solidFill>
                    <a:latin typeface="Arial"/>
                  </a:defRPr>
                </a:pPr>
              </a:p>
            </c:txPr>
            <c:showLegendKey val="0"/>
            <c:showVal val="1"/>
            <c:showCatName val="0"/>
            <c:showSerName val="0"/>
            <c:showPercent val="0"/>
            <c:showBubbleSize val="0"/>
            <c:showLeaderLines val="0"/>
          </c:dLbls>
          <c:dPt>
            <c:idx val="0"/>
            <c:invertIfNegative val="0"/>
            <c:bubble3D val="0"/>
            <c:spPr>
              <a:solidFill>
                <a:srgbClr val="5A6B94"/>
              </a:solidFill>
              <a:effectLst/>
            </c:spPr>
          </c:dPt>
          <c:dPt>
            <c:idx val="1"/>
            <c:invertIfNegative val="0"/>
            <c:bubble3D val="0"/>
            <c:spPr>
              <a:solidFill>
                <a:srgbClr val="2E9B3F"/>
              </a:solidFill>
              <a:effectLst/>
            </c:spPr>
          </c:dPt>
          <c:cat>
            <c:multiLvlStrRef>
              <c:f>Sheet1!$A$2:$A$3</c:f>
              <c:multiLvlStrCache>
                <c:ptCount val="2"/>
                <c:lvl>
                  <c:pt idx="0">
                    <c:v>Old rule-of-thumb
(20% of lead-time demand)</c:v>
                  </c:pt>
                  <c:pt idx="1">
                    <c:v>New: statistically-sized
(95% service level)</c:v>
                  </c:pt>
                </c:lvl>
              </c:multiLvlStrCache>
            </c:multiLvlStrRef>
          </c:cat>
          <c:val>
            <c:numRef>
              <c:f>Sheet1!$B$2:$B$3</c:f>
              <c:numCache>
                <c:formatCode>General</c:formatCode>
                <c:ptCount val="2"/>
                <c:pt idx="0">
                  <c:v>317</c:v>
                </c:pt>
                <c:pt idx="1">
                  <c:v>46</c:v>
                </c:pt>
              </c:numCache>
            </c:numRef>
          </c:val>
        </c:ser>
        <c:dLbls>
          <c:numFmt formatCode="#,##0" sourceLinked="0"/>
          <c:txPr>
            <a:bodyPr/>
            <a:lstStyle/>
            <a:p>
              <a:pPr>
                <a:defRPr b="0" i="0" strike="noStrike" sz="1200" u="none">
                  <a:solidFill>
                    <a:srgbClr val="1720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03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F2"/>
              </a:solidFill>
              <a:prstDash val="solid"/>
              <a:round/>
            </a:ln>
          </c:spPr>
        </c:majorGridlines>
        <c:title>
          <c:tx>
            <c:rich>
              <a:bodyPr/>
              <a:lstStyle/>
              <a:p>
                <a:pPr>
                  <a:defRPr sz="1000" b="0" i="0" u="none" strike="noStrike">
                    <a:solidFill>
                      <a:srgbClr val="5A6B94"/>
                    </a:solidFill>
                    <a:latin typeface="Arial"/>
                  </a:defRPr>
                </a:pPr>
                <a:r>
                  <a:rPr sz="1000" b="0" i="0" u="none" strike="noStrike">
                    <a:solidFill>
                      <a:srgbClr val="5A6B94"/>
                    </a:solidFill>
                    <a:latin typeface="Arial"/>
                  </a:rPr>
                  <a:t>Units held as buffer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03A"/>
                </a:solidFill>
                <a:latin typeface="Arial"/>
              </a:defRPr>
            </a:pPr>
            <a:r>
              <a:rPr sz="1300" b="0" i="0" u="none" strike="noStrike">
                <a:solidFill>
                  <a:srgbClr val="17203A"/>
                </a:solidFill>
                <a:latin typeface="Arial"/>
              </a:rPr>
              <a:t>Weekly Distribution Cost</a:t>
            </a:r>
          </a:p>
        </c:rich>
      </c:tx>
      <c:layout/>
      <c:overlay val="0"/>
    </c:title>
    <c:autoTitleDeleted val="0"/>
    <c:plotArea>
      <c:layout/>
      <c:barChart>
        <c:barDir val="col"/>
        <c:grouping val="clustered"/>
        <c:varyColors val="0"/>
        <c:ser>
          <c:idx val="0"/>
          <c:order val="0"/>
          <c:tx>
            <c:strRef>
              <c:f>Sheet1!$B$1</c:f>
              <c:strCache>
                <c:ptCount val="1"/>
                <c:pt idx="0">
                  <c:v>Weekly cost ($)</c:v>
                </c:pt>
              </c:strCache>
            </c:strRef>
          </c:tx>
          <c:spPr>
            <a:solidFill>
              <a:srgbClr val="5A6B94"/>
            </a:solidFill>
            <a:effectLst/>
          </c:spPr>
          <c:invertIfNegative val="0"/>
          <c:dLbls>
            <c:numFmt formatCode="$#,##0" sourceLinked="0"/>
            <c:txPr>
              <a:bodyPr/>
              <a:lstStyle/>
              <a:p>
                <a:pPr>
                  <a:defRPr b="0" i="0" strike="noStrike" sz="1200" u="none">
                    <a:solidFill>
                      <a:srgbClr val="17203A"/>
                    </a:solidFill>
                    <a:latin typeface="Arial"/>
                  </a:defRPr>
                </a:pPr>
              </a:p>
            </c:txPr>
            <c:showLegendKey val="0"/>
            <c:showVal val="1"/>
            <c:showCatName val="0"/>
            <c:showSerName val="0"/>
            <c:showPercent val="0"/>
            <c:showBubbleSize val="0"/>
            <c:showLeaderLines val="0"/>
          </c:dLbls>
          <c:dPt>
            <c:idx val="0"/>
            <c:invertIfNegative val="0"/>
            <c:bubble3D val="0"/>
            <c:spPr>
              <a:solidFill>
                <a:srgbClr val="5A6B94"/>
              </a:solidFill>
              <a:effectLst/>
            </c:spPr>
          </c:dPt>
          <c:dPt>
            <c:idx val="1"/>
            <c:invertIfNegative val="0"/>
            <c:bubble3D val="0"/>
            <c:spPr>
              <a:solidFill>
                <a:srgbClr val="E07A1F"/>
              </a:solidFill>
              <a:effectLst/>
            </c:spPr>
          </c:dPt>
          <c:cat>
            <c:multiLvlStrRef>
              <c:f>Sheet1!$A$2:$A$3</c:f>
              <c:multiLvlStrCache>
                <c:ptCount val="2"/>
                <c:lvl>
                  <c:pt idx="0">
                    <c:v>Naive 50/50 split
across warehouses</c:v>
                  </c:pt>
                  <c:pt idx="1">
                    <c:v>LP-Optimized routing
(this analysis)</c:v>
                  </c:pt>
                </c:lvl>
              </c:multiLvlStrCache>
            </c:multiLvlStrRef>
          </c:cat>
          <c:val>
            <c:numRef>
              <c:f>Sheet1!$B$2:$B$3</c:f>
              <c:numCache>
                <c:formatCode>General</c:formatCode>
                <c:ptCount val="2"/>
                <c:pt idx="0">
                  <c:v>7197</c:v>
                </c:pt>
                <c:pt idx="1">
                  <c:v>3875</c:v>
                </c:pt>
              </c:numCache>
            </c:numRef>
          </c:val>
        </c:ser>
        <c:dLbls>
          <c:numFmt formatCode="$#,##0" sourceLinked="0"/>
          <c:txPr>
            <a:bodyPr/>
            <a:lstStyle/>
            <a:p>
              <a:pPr>
                <a:defRPr b="0" i="0" strike="noStrike" sz="1200" u="none">
                  <a:solidFill>
                    <a:srgbClr val="1720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03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9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CFO Q&amp;A PREP — Anticipated tough question: "Why do we need so much safety stock? Isn't that just money sitting on a shelf?"
Suggested answer: "That's exactly the right question, and it's actually the opposite of what we had before. Our OLD approach held about 317 units of buffer per cycle based on a rough rule of thumb. This new approach is smaller — about 46 units — because it's sized precisely to our actual demand volatility and a 95% service level, not a guess. So we're holding 86% LESS buffer stock than before, while being more deliberate about the stockout risk we're accepting — 5%, a number the business can choose, not one we back into. If leadership wants to spend even less on buffer stock, we can lower the target service level, but every percentage point down trades directly against stockout frequency and lost sales — that's a conscious business tradeoff we can quantify, not a hidden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778240" y="-2011680"/>
            <a:ext cx="6400800" cy="6400800"/>
          </a:xfrm>
          <a:prstGeom prst="ellipse">
            <a:avLst/>
          </a:prstGeom>
          <a:solidFill>
            <a:srgbClr val="26317A"/>
          </a:solidFill>
          <a:ln/>
        </p:spPr>
      </p:sp>
      <p:sp>
        <p:nvSpPr>
          <p:cNvPr id="4" name="Shape 2"/>
          <p:cNvSpPr/>
          <p:nvPr/>
        </p:nvSpPr>
        <p:spPr>
          <a:xfrm>
            <a:off x="10241280" y="4206240"/>
            <a:ext cx="3840480" cy="3840480"/>
          </a:xfrm>
          <a:prstGeom prst="ellipse">
            <a:avLst/>
          </a:prstGeom>
          <a:solidFill>
            <a:srgbClr val="2C3A8C"/>
          </a:solidFill>
          <a:ln/>
        </p:spPr>
      </p:sp>
      <p:sp>
        <p:nvSpPr>
          <p:cNvPr id="5" name="Text 3"/>
          <p:cNvSpPr/>
          <p:nvPr/>
        </p:nvSpPr>
        <p:spPr>
          <a:xfrm>
            <a:off x="640080" y="1965960"/>
            <a:ext cx="9601200" cy="457200"/>
          </a:xfrm>
          <a:prstGeom prst="rect">
            <a:avLst/>
          </a:prstGeom>
          <a:noFill/>
          <a:ln/>
        </p:spPr>
        <p:txBody>
          <a:bodyPr wrap="square" lIns="0" tIns="0" rIns="0" bIns="0" rtlCol="0" anchor="ctr"/>
          <a:lstStyle/>
          <a:p>
            <a:pPr indent="0" marL="0">
              <a:buNone/>
            </a:pPr>
            <a:r>
              <a:rPr lang="en-US" sz="1600" b="1" spc="300" kern="0" dirty="0">
                <a:solidFill>
                  <a:srgbClr val="CADCFC"/>
                </a:solidFill>
                <a:latin typeface="Calibri" pitchFamily="34" charset="0"/>
                <a:ea typeface="Calibri" pitchFamily="34" charset="-122"/>
                <a:cs typeface="Calibri" pitchFamily="34" charset="-120"/>
              </a:rPr>
              <a:t>QUARTERLY OPERATIONS REVIEW</a:t>
            </a:r>
            <a:endParaRPr lang="en-US" sz="1600" dirty="0"/>
          </a:p>
        </p:txBody>
      </p:sp>
      <p:sp>
        <p:nvSpPr>
          <p:cNvPr id="6" name="Text 4"/>
          <p:cNvSpPr/>
          <p:nvPr/>
        </p:nvSpPr>
        <p:spPr>
          <a:xfrm>
            <a:off x="640080" y="2423160"/>
            <a:ext cx="105156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Safety, Equipment &amp; Supply Chain Performance</a:t>
            </a:r>
            <a:endParaRPr lang="en-US" sz="4000" dirty="0"/>
          </a:p>
        </p:txBody>
      </p:sp>
      <p:sp>
        <p:nvSpPr>
          <p:cNvPr id="7" name="Text 5"/>
          <p:cNvSpPr/>
          <p:nvPr/>
        </p:nvSpPr>
        <p:spPr>
          <a:xfrm>
            <a:off x="640080" y="3520440"/>
            <a:ext cx="9144000" cy="3657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Presented to the Senior Management Team  •  Weeks 6–8</a:t>
            </a:r>
            <a:endParaRPr lang="en-US" sz="1500" dirty="0"/>
          </a:p>
        </p:txBody>
      </p:sp>
      <p:sp>
        <p:nvSpPr>
          <p:cNvPr id="8" name="Shape 6"/>
          <p:cNvSpPr/>
          <p:nvPr/>
        </p:nvSpPr>
        <p:spPr>
          <a:xfrm>
            <a:off x="640080" y="4114800"/>
            <a:ext cx="502920" cy="45720"/>
          </a:xfrm>
          <a:prstGeom prst="rect">
            <a:avLst/>
          </a:prstGeom>
          <a:solidFill>
            <a:srgbClr val="E07A1F"/>
          </a:solidFill>
          <a:ln/>
        </p:spPr>
      </p:sp>
      <p:sp>
        <p:nvSpPr>
          <p:cNvPr id="9" name="Text 7"/>
          <p:cNvSpPr/>
          <p:nvPr/>
        </p:nvSpPr>
        <p:spPr>
          <a:xfrm>
            <a:off x="640080" y="4343400"/>
            <a:ext cx="9875520" cy="1463040"/>
          </a:xfrm>
          <a:prstGeom prst="rect">
            <a:avLst/>
          </a:prstGeom>
          <a:noFill/>
          <a:ln/>
        </p:spPr>
        <p:txBody>
          <a:bodyPr wrap="square" lIns="0" tIns="0" rIns="0" bIns="0" rtlCol="0" anchor="ctr"/>
          <a:lstStyle/>
          <a:p>
            <a:pPr indent="0" marL="0">
              <a:lnSpc>
                <a:spcPct val="125000"/>
              </a:lnSpc>
              <a:buNone/>
            </a:pPr>
            <a:r>
              <a:rPr lang="en-US" sz="1600" i="1" dirty="0">
                <a:solidFill>
                  <a:srgbClr val="FFFFFF"/>
                </a:solidFill>
                <a:latin typeface="Calibri" pitchFamily="34" charset="0"/>
                <a:ea typeface="Calibri" pitchFamily="34" charset="-122"/>
                <a:cs typeface="Calibri" pitchFamily="34" charset="-120"/>
              </a:rPr>
              <a:t>BLUF: Demand forecasting and inventory policy work this quarter cut projected excess buffer stock by ~86% and identified a lower-cost distribution plan saving an estimated $172K/year — while a formal reorder policy reduces stockout risk from a coin-flip to 1-in-20.</a:t>
            </a:r>
            <a:endParaRPr lang="en-US" sz="1600" dirty="0"/>
          </a:p>
        </p:txBody>
      </p:sp>
      <p:sp>
        <p:nvSpPr>
          <p:cNvPr id="10" name="Text 8"/>
          <p:cNvSpPr/>
          <p:nvPr/>
        </p:nvSpPr>
        <p:spPr>
          <a:xfrm>
            <a:off x="640080" y="6263640"/>
            <a:ext cx="7315200" cy="320040"/>
          </a:xfrm>
          <a:prstGeom prst="rect">
            <a:avLst/>
          </a:prstGeom>
          <a:noFill/>
          <a:ln/>
        </p:spPr>
        <p:txBody>
          <a:bodyPr wrap="square" lIns="0" tIns="0" rIns="0" bIns="0" rtlCol="0" anchor="ctr"/>
          <a:lstStyle/>
          <a:p>
            <a:pPr indent="0" marL="0">
              <a:buNone/>
            </a:pPr>
            <a:r>
              <a:rPr lang="en-US" sz="1100" dirty="0">
                <a:solidFill>
                  <a:srgbClr val="5A6B94"/>
                </a:solidFill>
                <a:latin typeface="Calibri" pitchFamily="34" charset="0"/>
                <a:ea typeface="Calibri" pitchFamily="34" charset="-122"/>
                <a:cs typeface="Calibri" pitchFamily="34" charset="-120"/>
              </a:rPr>
              <a:t>Finley Maranga  |  Operations &amp; Data Analytics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3000" b="1" dirty="0">
                <a:solidFill>
                  <a:srgbClr val="17203A"/>
                </a:solidFill>
                <a:latin typeface="Cambria" pitchFamily="34" charset="0"/>
                <a:ea typeface="Cambria" pitchFamily="34" charset="-122"/>
                <a:cs typeface="Cambria" pitchFamily="34" charset="-120"/>
              </a:rPr>
              <a:t>Three headlines for this quarter</a:t>
            </a:r>
            <a:endParaRPr lang="en-US" sz="3000" dirty="0"/>
          </a:p>
        </p:txBody>
      </p:sp>
      <p:sp>
        <p:nvSpPr>
          <p:cNvPr id="4" name="Shape 2"/>
          <p:cNvSpPr/>
          <p:nvPr/>
        </p:nvSpPr>
        <p:spPr>
          <a:xfrm>
            <a:off x="548640" y="1691640"/>
            <a:ext cx="3429000" cy="2148840"/>
          </a:xfrm>
          <a:prstGeom prst="roundRect">
            <a:avLst>
              <a:gd name="adj" fmla="val 3404"/>
            </a:avLst>
          </a:prstGeom>
          <a:solidFill>
            <a:srgbClr val="F4F6FB"/>
          </a:solidFill>
          <a:ln/>
          <a:effectLst>
            <a:outerShdw sx="100000" sy="100000" kx="0" ky="0" algn="bl" rotWithShape="0" blurRad="101600" dist="38100" dir="5400000">
              <a:srgbClr val="1E2761">
                <a:alpha val="12000"/>
              </a:srgbClr>
            </a:outerShdw>
          </a:effectLst>
        </p:spPr>
      </p:sp>
      <p:sp>
        <p:nvSpPr>
          <p:cNvPr id="5" name="Shape 3"/>
          <p:cNvSpPr/>
          <p:nvPr/>
        </p:nvSpPr>
        <p:spPr>
          <a:xfrm>
            <a:off x="548640" y="1691640"/>
            <a:ext cx="82296" cy="2148840"/>
          </a:xfrm>
          <a:prstGeom prst="rect">
            <a:avLst/>
          </a:prstGeom>
          <a:solidFill>
            <a:srgbClr val="2E9B3F"/>
          </a:solidFill>
          <a:ln/>
        </p:spPr>
      </p:sp>
      <p:sp>
        <p:nvSpPr>
          <p:cNvPr id="6" name="Text 4"/>
          <p:cNvSpPr/>
          <p:nvPr/>
        </p:nvSpPr>
        <p:spPr>
          <a:xfrm>
            <a:off x="822960" y="1920240"/>
            <a:ext cx="2971800" cy="685800"/>
          </a:xfrm>
          <a:prstGeom prst="rect">
            <a:avLst/>
          </a:prstGeom>
          <a:noFill/>
          <a:ln/>
        </p:spPr>
        <p:txBody>
          <a:bodyPr wrap="square" lIns="0" tIns="0" rIns="0" bIns="0" rtlCol="0" anchor="ctr"/>
          <a:lstStyle/>
          <a:p>
            <a:pPr indent="0" marL="0">
              <a:buNone/>
            </a:pPr>
            <a:r>
              <a:rPr lang="en-US" sz="4400" b="1" dirty="0">
                <a:solidFill>
                  <a:srgbClr val="2E9B3F"/>
                </a:solidFill>
                <a:latin typeface="Cambria" pitchFamily="34" charset="0"/>
                <a:ea typeface="Cambria" pitchFamily="34" charset="-122"/>
                <a:cs typeface="Cambria" pitchFamily="34" charset="-120"/>
              </a:rPr>
              <a:t>5.3%</a:t>
            </a:r>
            <a:endParaRPr lang="en-US" sz="4400" dirty="0"/>
          </a:p>
        </p:txBody>
      </p:sp>
      <p:sp>
        <p:nvSpPr>
          <p:cNvPr id="7" name="Text 5"/>
          <p:cNvSpPr/>
          <p:nvPr/>
        </p:nvSpPr>
        <p:spPr>
          <a:xfrm>
            <a:off x="822960" y="2651760"/>
            <a:ext cx="2926080" cy="365760"/>
          </a:xfrm>
          <a:prstGeom prst="rect">
            <a:avLst/>
          </a:prstGeom>
          <a:noFill/>
          <a:ln/>
        </p:spPr>
        <p:txBody>
          <a:bodyPr wrap="square" lIns="0" tIns="0" rIns="0" bIns="0" rtlCol="0" anchor="ctr"/>
          <a:lstStyle/>
          <a:p>
            <a:pPr indent="0" marL="0">
              <a:buNone/>
            </a:pPr>
            <a:r>
              <a:rPr lang="en-US" sz="1500" b="1" dirty="0">
                <a:solidFill>
                  <a:srgbClr val="17203A"/>
                </a:solidFill>
                <a:latin typeface="Calibri" pitchFamily="34" charset="0"/>
                <a:ea typeface="Calibri" pitchFamily="34" charset="-122"/>
                <a:cs typeface="Calibri" pitchFamily="34" charset="-120"/>
              </a:rPr>
              <a:t>Forecast error (MAPE)</a:t>
            </a:r>
            <a:endParaRPr lang="en-US" sz="1500" dirty="0"/>
          </a:p>
        </p:txBody>
      </p:sp>
      <p:sp>
        <p:nvSpPr>
          <p:cNvPr id="8" name="Text 6"/>
          <p:cNvSpPr/>
          <p:nvPr/>
        </p:nvSpPr>
        <p:spPr>
          <a:xfrm>
            <a:off x="822960" y="3017520"/>
            <a:ext cx="2926080" cy="731520"/>
          </a:xfrm>
          <a:prstGeom prst="rect">
            <a:avLst/>
          </a:prstGeom>
          <a:noFill/>
          <a:ln/>
        </p:spPr>
        <p:txBody>
          <a:bodyPr wrap="square" lIns="0" tIns="0" rIns="0" bIns="0" rtlCol="0" anchor="ctr"/>
          <a:lstStyle/>
          <a:p>
            <a:pPr indent="0" marL="0">
              <a:lnSpc>
                <a:spcPct val="115000"/>
              </a:lnSpc>
              <a:buNone/>
            </a:pPr>
            <a:r>
              <a:rPr lang="en-US" sz="1100" dirty="0">
                <a:solidFill>
                  <a:srgbClr val="5A6B94"/>
                </a:solidFill>
                <a:latin typeface="Calibri" pitchFamily="34" charset="0"/>
                <a:ea typeface="Calibri" pitchFamily="34" charset="-122"/>
                <a:cs typeface="Calibri" pitchFamily="34" charset="-120"/>
              </a:rPr>
              <a:t>45-day demand forecast, validated on held-out history</a:t>
            </a:r>
            <a:endParaRPr lang="en-US" sz="1100" dirty="0"/>
          </a:p>
        </p:txBody>
      </p:sp>
      <p:sp>
        <p:nvSpPr>
          <p:cNvPr id="9" name="Shape 7"/>
          <p:cNvSpPr/>
          <p:nvPr/>
        </p:nvSpPr>
        <p:spPr>
          <a:xfrm>
            <a:off x="4297680" y="1691640"/>
            <a:ext cx="3429000" cy="2148840"/>
          </a:xfrm>
          <a:prstGeom prst="roundRect">
            <a:avLst>
              <a:gd name="adj" fmla="val 3404"/>
            </a:avLst>
          </a:prstGeom>
          <a:solidFill>
            <a:srgbClr val="F4F6FB"/>
          </a:solidFill>
          <a:ln/>
          <a:effectLst>
            <a:outerShdw sx="100000" sy="100000" kx="0" ky="0" algn="bl" rotWithShape="0" blurRad="101600" dist="38100" dir="5400000">
              <a:srgbClr val="1E2761">
                <a:alpha val="12000"/>
              </a:srgbClr>
            </a:outerShdw>
          </a:effectLst>
        </p:spPr>
      </p:sp>
      <p:sp>
        <p:nvSpPr>
          <p:cNvPr id="10" name="Shape 8"/>
          <p:cNvSpPr/>
          <p:nvPr/>
        </p:nvSpPr>
        <p:spPr>
          <a:xfrm>
            <a:off x="4297680" y="1691640"/>
            <a:ext cx="82296" cy="2148840"/>
          </a:xfrm>
          <a:prstGeom prst="rect">
            <a:avLst/>
          </a:prstGeom>
          <a:solidFill>
            <a:srgbClr val="1E2761"/>
          </a:solidFill>
          <a:ln/>
        </p:spPr>
      </p:sp>
      <p:sp>
        <p:nvSpPr>
          <p:cNvPr id="11" name="Text 9"/>
          <p:cNvSpPr/>
          <p:nvPr/>
        </p:nvSpPr>
        <p:spPr>
          <a:xfrm>
            <a:off x="4572000" y="1920240"/>
            <a:ext cx="2971800" cy="68580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95%</a:t>
            </a:r>
            <a:endParaRPr lang="en-US" sz="4400" dirty="0"/>
          </a:p>
        </p:txBody>
      </p:sp>
      <p:sp>
        <p:nvSpPr>
          <p:cNvPr id="12" name="Text 10"/>
          <p:cNvSpPr/>
          <p:nvPr/>
        </p:nvSpPr>
        <p:spPr>
          <a:xfrm>
            <a:off x="4572000" y="2651760"/>
            <a:ext cx="2926080" cy="365760"/>
          </a:xfrm>
          <a:prstGeom prst="rect">
            <a:avLst/>
          </a:prstGeom>
          <a:noFill/>
          <a:ln/>
        </p:spPr>
        <p:txBody>
          <a:bodyPr wrap="square" lIns="0" tIns="0" rIns="0" bIns="0" rtlCol="0" anchor="ctr"/>
          <a:lstStyle/>
          <a:p>
            <a:pPr indent="0" marL="0">
              <a:buNone/>
            </a:pPr>
            <a:r>
              <a:rPr lang="en-US" sz="1500" b="1" dirty="0">
                <a:solidFill>
                  <a:srgbClr val="17203A"/>
                </a:solidFill>
                <a:latin typeface="Calibri" pitchFamily="34" charset="0"/>
                <a:ea typeface="Calibri" pitchFamily="34" charset="-122"/>
                <a:cs typeface="Calibri" pitchFamily="34" charset="-120"/>
              </a:rPr>
              <a:t>Target service level</a:t>
            </a:r>
            <a:endParaRPr lang="en-US" sz="1500" dirty="0"/>
          </a:p>
        </p:txBody>
      </p:sp>
      <p:sp>
        <p:nvSpPr>
          <p:cNvPr id="13" name="Text 11"/>
          <p:cNvSpPr/>
          <p:nvPr/>
        </p:nvSpPr>
        <p:spPr>
          <a:xfrm>
            <a:off x="4572000" y="3017520"/>
            <a:ext cx="2926080" cy="731520"/>
          </a:xfrm>
          <a:prstGeom prst="rect">
            <a:avLst/>
          </a:prstGeom>
          <a:noFill/>
          <a:ln/>
        </p:spPr>
        <p:txBody>
          <a:bodyPr wrap="square" lIns="0" tIns="0" rIns="0" bIns="0" rtlCol="0" anchor="ctr"/>
          <a:lstStyle/>
          <a:p>
            <a:pPr indent="0" marL="0">
              <a:lnSpc>
                <a:spcPct val="115000"/>
              </a:lnSpc>
              <a:buNone/>
            </a:pPr>
            <a:r>
              <a:rPr lang="en-US" sz="1100" dirty="0">
                <a:solidFill>
                  <a:srgbClr val="5A6B94"/>
                </a:solidFill>
                <a:latin typeface="Calibri" pitchFamily="34" charset="0"/>
                <a:ea typeface="Calibri" pitchFamily="34" charset="-122"/>
                <a:cs typeface="Calibri" pitchFamily="34" charset="-120"/>
              </a:rPr>
              <a:t>Reorder policy now sized to a defined stockout-risk tolerance, not guesswork</a:t>
            </a:r>
            <a:endParaRPr lang="en-US" sz="1100" dirty="0"/>
          </a:p>
        </p:txBody>
      </p:sp>
      <p:sp>
        <p:nvSpPr>
          <p:cNvPr id="14" name="Shape 12"/>
          <p:cNvSpPr/>
          <p:nvPr/>
        </p:nvSpPr>
        <p:spPr>
          <a:xfrm>
            <a:off x="8046720" y="1691640"/>
            <a:ext cx="3429000" cy="2148840"/>
          </a:xfrm>
          <a:prstGeom prst="roundRect">
            <a:avLst>
              <a:gd name="adj" fmla="val 3404"/>
            </a:avLst>
          </a:prstGeom>
          <a:solidFill>
            <a:srgbClr val="F4F6FB"/>
          </a:solidFill>
          <a:ln/>
          <a:effectLst>
            <a:outerShdw sx="100000" sy="100000" kx="0" ky="0" algn="bl" rotWithShape="0" blurRad="101600" dist="38100" dir="5400000">
              <a:srgbClr val="1E2761">
                <a:alpha val="12000"/>
              </a:srgbClr>
            </a:outerShdw>
          </a:effectLst>
        </p:spPr>
      </p:sp>
      <p:sp>
        <p:nvSpPr>
          <p:cNvPr id="15" name="Shape 13"/>
          <p:cNvSpPr/>
          <p:nvPr/>
        </p:nvSpPr>
        <p:spPr>
          <a:xfrm>
            <a:off x="8046720" y="1691640"/>
            <a:ext cx="82296" cy="2148840"/>
          </a:xfrm>
          <a:prstGeom prst="rect">
            <a:avLst/>
          </a:prstGeom>
          <a:solidFill>
            <a:srgbClr val="E07A1F"/>
          </a:solidFill>
          <a:ln/>
        </p:spPr>
      </p:sp>
      <p:sp>
        <p:nvSpPr>
          <p:cNvPr id="16" name="Text 14"/>
          <p:cNvSpPr/>
          <p:nvPr/>
        </p:nvSpPr>
        <p:spPr>
          <a:xfrm>
            <a:off x="8321040" y="1920240"/>
            <a:ext cx="2971800" cy="685800"/>
          </a:xfrm>
          <a:prstGeom prst="rect">
            <a:avLst/>
          </a:prstGeom>
          <a:noFill/>
          <a:ln/>
        </p:spPr>
        <p:txBody>
          <a:bodyPr wrap="square" lIns="0" tIns="0" rIns="0" bIns="0" rtlCol="0" anchor="ctr"/>
          <a:lstStyle/>
          <a:p>
            <a:pPr indent="0" marL="0">
              <a:buNone/>
            </a:pPr>
            <a:r>
              <a:rPr lang="en-US" sz="4400" b="1" dirty="0">
                <a:solidFill>
                  <a:srgbClr val="E07A1F"/>
                </a:solidFill>
                <a:latin typeface="Cambria" pitchFamily="34" charset="0"/>
                <a:ea typeface="Cambria" pitchFamily="34" charset="-122"/>
                <a:cs typeface="Cambria" pitchFamily="34" charset="-120"/>
              </a:rPr>
              <a:t>$172K</a:t>
            </a:r>
            <a:endParaRPr lang="en-US" sz="4400" dirty="0"/>
          </a:p>
        </p:txBody>
      </p:sp>
      <p:sp>
        <p:nvSpPr>
          <p:cNvPr id="17" name="Text 15"/>
          <p:cNvSpPr/>
          <p:nvPr/>
        </p:nvSpPr>
        <p:spPr>
          <a:xfrm>
            <a:off x="8321040" y="2651760"/>
            <a:ext cx="2926080" cy="365760"/>
          </a:xfrm>
          <a:prstGeom prst="rect">
            <a:avLst/>
          </a:prstGeom>
          <a:noFill/>
          <a:ln/>
        </p:spPr>
        <p:txBody>
          <a:bodyPr wrap="square" lIns="0" tIns="0" rIns="0" bIns="0" rtlCol="0" anchor="ctr"/>
          <a:lstStyle/>
          <a:p>
            <a:pPr indent="0" marL="0">
              <a:buNone/>
            </a:pPr>
            <a:r>
              <a:rPr lang="en-US" sz="1500" b="1" dirty="0">
                <a:solidFill>
                  <a:srgbClr val="17203A"/>
                </a:solidFill>
                <a:latin typeface="Calibri" pitchFamily="34" charset="0"/>
                <a:ea typeface="Calibri" pitchFamily="34" charset="-122"/>
                <a:cs typeface="Calibri" pitchFamily="34" charset="-120"/>
              </a:rPr>
              <a:t>Est. annual savings</a:t>
            </a:r>
            <a:endParaRPr lang="en-US" sz="1500" dirty="0"/>
          </a:p>
        </p:txBody>
      </p:sp>
      <p:sp>
        <p:nvSpPr>
          <p:cNvPr id="18" name="Text 16"/>
          <p:cNvSpPr/>
          <p:nvPr/>
        </p:nvSpPr>
        <p:spPr>
          <a:xfrm>
            <a:off x="8321040" y="3017520"/>
            <a:ext cx="2926080" cy="731520"/>
          </a:xfrm>
          <a:prstGeom prst="rect">
            <a:avLst/>
          </a:prstGeom>
          <a:noFill/>
          <a:ln/>
        </p:spPr>
        <p:txBody>
          <a:bodyPr wrap="square" lIns="0" tIns="0" rIns="0" bIns="0" rtlCol="0" anchor="ctr"/>
          <a:lstStyle/>
          <a:p>
            <a:pPr indent="0" marL="0">
              <a:lnSpc>
                <a:spcPct val="115000"/>
              </a:lnSpc>
              <a:buNone/>
            </a:pPr>
            <a:r>
              <a:rPr lang="en-US" sz="1100" dirty="0">
                <a:solidFill>
                  <a:srgbClr val="5A6B94"/>
                </a:solidFill>
                <a:latin typeface="Calibri" pitchFamily="34" charset="0"/>
                <a:ea typeface="Calibri" pitchFamily="34" charset="-122"/>
                <a:cs typeface="Calibri" pitchFamily="34" charset="-120"/>
              </a:rPr>
              <a:t>From optimized warehouse-to-region distribution routing</a:t>
            </a:r>
            <a:endParaRPr lang="en-US" sz="1100" dirty="0"/>
          </a:p>
        </p:txBody>
      </p:sp>
      <p:sp>
        <p:nvSpPr>
          <p:cNvPr id="19" name="Shape 17"/>
          <p:cNvSpPr/>
          <p:nvPr/>
        </p:nvSpPr>
        <p:spPr>
          <a:xfrm>
            <a:off x="548640" y="4160520"/>
            <a:ext cx="11064240" cy="1920240"/>
          </a:xfrm>
          <a:prstGeom prst="roundRect">
            <a:avLst>
              <a:gd name="adj" fmla="val 3810"/>
            </a:avLst>
          </a:prstGeom>
          <a:solidFill>
            <a:srgbClr val="1E2761"/>
          </a:solidFill>
          <a:ln/>
        </p:spPr>
      </p:sp>
      <p:sp>
        <p:nvSpPr>
          <p:cNvPr id="20" name="Text 18"/>
          <p:cNvSpPr/>
          <p:nvPr/>
        </p:nvSpPr>
        <p:spPr>
          <a:xfrm>
            <a:off x="914400" y="4370832"/>
            <a:ext cx="7315200" cy="3657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What this means for the business</a:t>
            </a:r>
            <a:endParaRPr lang="en-US" sz="1400" dirty="0"/>
          </a:p>
        </p:txBody>
      </p:sp>
      <p:sp>
        <p:nvSpPr>
          <p:cNvPr id="21" name="Text 19"/>
          <p:cNvSpPr/>
          <p:nvPr/>
        </p:nvSpPr>
        <p:spPr>
          <a:xfrm>
            <a:off x="914400" y="4754880"/>
            <a:ext cx="10332720" cy="12344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Inventory is now sized by statistics, not intuition — freeing working capital previously tied up in oversized buffers.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data-backed reorder policy quantifies and controls stockout risk at a Board-approved service level.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Distribution routing is now cost-optimized rather than habit-based, with savings that compound every week.</a:t>
            </a:r>
            <a:endParaRPr lang="en-US" sz="130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2  |  Quarterly Operations Review</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RECAP — WEEK 6</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3000" b="1" dirty="0">
                <a:solidFill>
                  <a:srgbClr val="17203A"/>
                </a:solidFill>
                <a:latin typeface="Cambria" pitchFamily="34" charset="0"/>
                <a:ea typeface="Cambria" pitchFamily="34" charset="-122"/>
                <a:cs typeface="Cambria" pitchFamily="34" charset="-120"/>
              </a:rPr>
              <a:t>Workplace Safety Performance</a:t>
            </a:r>
            <a:endParaRPr lang="en-US" sz="3000" dirty="0"/>
          </a:p>
        </p:txBody>
      </p:sp>
      <p:sp>
        <p:nvSpPr>
          <p:cNvPr id="4" name="Text 2"/>
          <p:cNvSpPr/>
          <p:nvPr/>
        </p:nvSpPr>
        <p:spPr>
          <a:xfrm>
            <a:off x="548640" y="1325880"/>
            <a:ext cx="10058400" cy="320040"/>
          </a:xfrm>
          <a:prstGeom prst="rect">
            <a:avLst/>
          </a:prstGeom>
          <a:noFill/>
          <a:ln/>
        </p:spPr>
        <p:txBody>
          <a:bodyPr wrap="square" lIns="0" tIns="0" rIns="0" bIns="0" rtlCol="0" anchor="ctr"/>
          <a:lstStyle/>
          <a:p>
            <a:pPr indent="0" marL="0">
              <a:buNone/>
            </a:pPr>
            <a:r>
              <a:rPr lang="en-US" sz="1200" i="1" dirty="0">
                <a:solidFill>
                  <a:srgbClr val="E07A1F"/>
                </a:solidFill>
                <a:latin typeface="Calibri" pitchFamily="34" charset="0"/>
                <a:ea typeface="Calibri" pitchFamily="34" charset="-122"/>
                <a:cs typeface="Calibri" pitchFamily="34" charset="-120"/>
              </a:rPr>
              <a:t>Placeholder — replace with your actual Week 6 safety analysis before presenting.</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2377440"/>
        </p:xfrm>
        <a:graphic>
          <a:graphicData uri="http://schemas.openxmlformats.org/drawingml/2006/table">
            <a:tbl>
              <a:tblPr/>
              <a:tblGrid>
                <a:gridCol w="2766060"/>
                <a:gridCol w="2766060"/>
                <a:gridCol w="2766060"/>
                <a:gridCol w="2766060"/>
              </a:tblGrid>
              <a:tr h="457200">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Prior Quarter</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This Quarter</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Trend</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Recordable incident rate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 improving]</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Near-miss reports filed</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 more reporting]</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Safety training completion</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[on target]</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Days since last lost-time incident</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c>
                  <a:txBody>
                    <a:bodyPr/>
                    <a:lstStyle/>
                    <a:p>
                      <a:pPr indent="0" marL="0">
                        <a:buNone/>
                      </a:pPr>
                      <a:r>
                        <a:rPr lang="en-US" sz="1300" dirty="0">
                          <a:solidFill>
                            <a:srgbClr val="17203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572000"/>
            <a:ext cx="11064240" cy="1463040"/>
          </a:xfrm>
          <a:prstGeom prst="roundRect">
            <a:avLst>
              <a:gd name="adj" fmla="val 5000"/>
            </a:avLst>
          </a:prstGeom>
          <a:solidFill>
            <a:srgbClr val="F4F6FB"/>
          </a:solidFill>
          <a:ln/>
        </p:spPr>
      </p:sp>
      <p:sp>
        <p:nvSpPr>
          <p:cNvPr id="7" name="Text 4"/>
          <p:cNvSpPr/>
          <p:nvPr/>
        </p:nvSpPr>
        <p:spPr>
          <a:xfrm>
            <a:off x="914400" y="475488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insight from Week 6</a:t>
            </a:r>
            <a:endParaRPr lang="en-US" sz="1300" dirty="0"/>
          </a:p>
        </p:txBody>
      </p:sp>
      <p:sp>
        <p:nvSpPr>
          <p:cNvPr id="8" name="Text 5"/>
          <p:cNvSpPr/>
          <p:nvPr/>
        </p:nvSpPr>
        <p:spPr>
          <a:xfrm>
            <a:off x="914400" y="5074920"/>
            <a:ext cx="10332720" cy="822960"/>
          </a:xfrm>
          <a:prstGeom prst="rect">
            <a:avLst/>
          </a:prstGeom>
          <a:noFill/>
          <a:ln/>
        </p:spPr>
        <p:txBody>
          <a:bodyPr wrap="square" lIns="0" tIns="0" rIns="0" bIns="0" rtlCol="0" anchor="ctr"/>
          <a:lstStyle/>
          <a:p>
            <a:pPr indent="0" marL="0">
              <a:buNone/>
            </a:pPr>
            <a:r>
              <a:rPr lang="en-US" sz="1300" i="1" dirty="0">
                <a:solidFill>
                  <a:srgbClr val="17203A"/>
                </a:solidFill>
                <a:latin typeface="Calibri" pitchFamily="34" charset="0"/>
                <a:ea typeface="Calibri" pitchFamily="34" charset="-122"/>
                <a:cs typeface="Calibri" pitchFamily="34" charset="-120"/>
              </a:rPr>
              <a:t>[Insert your one-sentence takeaway from the Week 6 safety analysis here — e.g. which intervention drove the biggest improvement.]</a:t>
            </a:r>
            <a:endParaRPr lang="en-US" sz="13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3  |  Quarterly Operations Review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RECAP — WEEK 7</a:t>
            </a:r>
            <a:endParaRPr lang="en-US" sz="13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3000" b="1" dirty="0">
                <a:solidFill>
                  <a:srgbClr val="17203A"/>
                </a:solidFill>
                <a:latin typeface="Cambria" pitchFamily="34" charset="0"/>
                <a:ea typeface="Cambria" pitchFamily="34" charset="-122"/>
                <a:cs typeface="Cambria" pitchFamily="34" charset="-120"/>
              </a:rPr>
              <a:t>Equipment Health &amp; Reliability</a:t>
            </a:r>
            <a:endParaRPr lang="en-US" sz="3000" dirty="0"/>
          </a:p>
        </p:txBody>
      </p:sp>
      <p:sp>
        <p:nvSpPr>
          <p:cNvPr id="4" name="Text 2"/>
          <p:cNvSpPr/>
          <p:nvPr/>
        </p:nvSpPr>
        <p:spPr>
          <a:xfrm>
            <a:off x="548640" y="1325880"/>
            <a:ext cx="10058400" cy="320040"/>
          </a:xfrm>
          <a:prstGeom prst="rect">
            <a:avLst/>
          </a:prstGeom>
          <a:noFill/>
          <a:ln/>
        </p:spPr>
        <p:txBody>
          <a:bodyPr wrap="square" lIns="0" tIns="0" rIns="0" bIns="0" rtlCol="0" anchor="ctr"/>
          <a:lstStyle/>
          <a:p>
            <a:pPr indent="0" marL="0">
              <a:buNone/>
            </a:pPr>
            <a:r>
              <a:rPr lang="en-US" sz="1200" i="1" dirty="0">
                <a:solidFill>
                  <a:srgbClr val="E07A1F"/>
                </a:solidFill>
                <a:latin typeface="Calibri" pitchFamily="34" charset="0"/>
                <a:ea typeface="Calibri" pitchFamily="34" charset="-122"/>
                <a:cs typeface="Calibri" pitchFamily="34" charset="-120"/>
              </a:rPr>
              <a:t>Placeholder — replace with your actual Week 7 equipment-health analysis before presenting.</a:t>
            </a:r>
            <a:endParaRPr lang="en-US" sz="1200" dirty="0"/>
          </a:p>
        </p:txBody>
      </p:sp>
      <p:sp>
        <p:nvSpPr>
          <p:cNvPr id="5" name="Shape 3"/>
          <p:cNvSpPr/>
          <p:nvPr/>
        </p:nvSpPr>
        <p:spPr>
          <a:xfrm>
            <a:off x="548640" y="1965960"/>
            <a:ext cx="3429000" cy="1554480"/>
          </a:xfrm>
          <a:prstGeom prst="roundRect">
            <a:avLst>
              <a:gd name="adj" fmla="val 4706"/>
            </a:avLst>
          </a:prstGeom>
          <a:solidFill>
            <a:srgbClr val="F4F6FB"/>
          </a:solidFill>
          <a:ln/>
        </p:spPr>
      </p:sp>
      <p:sp>
        <p:nvSpPr>
          <p:cNvPr id="6" name="Shape 4"/>
          <p:cNvSpPr/>
          <p:nvPr/>
        </p:nvSpPr>
        <p:spPr>
          <a:xfrm>
            <a:off x="548640" y="1965960"/>
            <a:ext cx="82296" cy="1554480"/>
          </a:xfrm>
          <a:prstGeom prst="rect">
            <a:avLst/>
          </a:prstGeom>
          <a:solidFill>
            <a:srgbClr val="2E9B3F"/>
          </a:solidFill>
          <a:ln/>
        </p:spPr>
      </p:sp>
      <p:sp>
        <p:nvSpPr>
          <p:cNvPr id="7" name="Text 5"/>
          <p:cNvSpPr/>
          <p:nvPr/>
        </p:nvSpPr>
        <p:spPr>
          <a:xfrm>
            <a:off x="822960" y="2167128"/>
            <a:ext cx="2971800" cy="640080"/>
          </a:xfrm>
          <a:prstGeom prst="rect">
            <a:avLst/>
          </a:prstGeom>
          <a:noFill/>
          <a:ln/>
        </p:spPr>
        <p:txBody>
          <a:bodyPr wrap="square" lIns="0" tIns="0" rIns="0" bIns="0" rtlCol="0" anchor="ctr"/>
          <a:lstStyle/>
          <a:p>
            <a:pPr indent="0" marL="0">
              <a:buNone/>
            </a:pPr>
            <a:r>
              <a:rPr lang="en-US" sz="3000" b="1" dirty="0">
                <a:solidFill>
                  <a:srgbClr val="2E9B3F"/>
                </a:solidFill>
                <a:latin typeface="Cambria" pitchFamily="34" charset="0"/>
                <a:ea typeface="Cambria" pitchFamily="34" charset="-122"/>
                <a:cs typeface="Cambria" pitchFamily="34" charset="-120"/>
              </a:rPr>
              <a:t>[__%]</a:t>
            </a:r>
            <a:endParaRPr lang="en-US" sz="3000" dirty="0"/>
          </a:p>
        </p:txBody>
      </p:sp>
      <p:sp>
        <p:nvSpPr>
          <p:cNvPr id="8" name="Text 6"/>
          <p:cNvSpPr/>
          <p:nvPr/>
        </p:nvSpPr>
        <p:spPr>
          <a:xfrm>
            <a:off x="822960" y="2880360"/>
            <a:ext cx="2926080" cy="548640"/>
          </a:xfrm>
          <a:prstGeom prst="rect">
            <a:avLst/>
          </a:prstGeom>
          <a:noFill/>
          <a:ln/>
        </p:spPr>
        <p:txBody>
          <a:bodyPr wrap="square" lIns="0" tIns="0" rIns="0" bIns="0" rtlCol="0" anchor="ctr"/>
          <a:lstStyle/>
          <a:p>
            <a:pPr indent="0" marL="0">
              <a:buNone/>
            </a:pPr>
            <a:r>
              <a:rPr lang="en-US" sz="1300" dirty="0">
                <a:solidFill>
                  <a:srgbClr val="17203A"/>
                </a:solidFill>
                <a:latin typeface="Calibri" pitchFamily="34" charset="0"/>
                <a:ea typeface="Calibri" pitchFamily="34" charset="-122"/>
                <a:cs typeface="Calibri" pitchFamily="34" charset="-120"/>
              </a:rPr>
              <a:t>Fleet uptime</a:t>
            </a:r>
            <a:endParaRPr lang="en-US" sz="1300" dirty="0"/>
          </a:p>
        </p:txBody>
      </p:sp>
      <p:sp>
        <p:nvSpPr>
          <p:cNvPr id="9" name="Shape 7"/>
          <p:cNvSpPr/>
          <p:nvPr/>
        </p:nvSpPr>
        <p:spPr>
          <a:xfrm>
            <a:off x="4297680" y="1965960"/>
            <a:ext cx="3429000" cy="1554480"/>
          </a:xfrm>
          <a:prstGeom prst="roundRect">
            <a:avLst>
              <a:gd name="adj" fmla="val 4706"/>
            </a:avLst>
          </a:prstGeom>
          <a:solidFill>
            <a:srgbClr val="F4F6FB"/>
          </a:solidFill>
          <a:ln/>
        </p:spPr>
      </p:sp>
      <p:sp>
        <p:nvSpPr>
          <p:cNvPr id="10" name="Shape 8"/>
          <p:cNvSpPr/>
          <p:nvPr/>
        </p:nvSpPr>
        <p:spPr>
          <a:xfrm>
            <a:off x="4297680" y="1965960"/>
            <a:ext cx="82296" cy="1554480"/>
          </a:xfrm>
          <a:prstGeom prst="rect">
            <a:avLst/>
          </a:prstGeom>
          <a:solidFill>
            <a:srgbClr val="1E2761"/>
          </a:solidFill>
          <a:ln/>
        </p:spPr>
      </p:sp>
      <p:sp>
        <p:nvSpPr>
          <p:cNvPr id="11" name="Text 9"/>
          <p:cNvSpPr/>
          <p:nvPr/>
        </p:nvSpPr>
        <p:spPr>
          <a:xfrm>
            <a:off x="4572000" y="2167128"/>
            <a:ext cx="2971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[__ days]</a:t>
            </a:r>
            <a:endParaRPr lang="en-US" sz="3000" dirty="0"/>
          </a:p>
        </p:txBody>
      </p:sp>
      <p:sp>
        <p:nvSpPr>
          <p:cNvPr id="12" name="Text 10"/>
          <p:cNvSpPr/>
          <p:nvPr/>
        </p:nvSpPr>
        <p:spPr>
          <a:xfrm>
            <a:off x="4572000" y="2880360"/>
            <a:ext cx="2926080" cy="548640"/>
          </a:xfrm>
          <a:prstGeom prst="rect">
            <a:avLst/>
          </a:prstGeom>
          <a:noFill/>
          <a:ln/>
        </p:spPr>
        <p:txBody>
          <a:bodyPr wrap="square" lIns="0" tIns="0" rIns="0" bIns="0" rtlCol="0" anchor="ctr"/>
          <a:lstStyle/>
          <a:p>
            <a:pPr indent="0" marL="0">
              <a:buNone/>
            </a:pPr>
            <a:r>
              <a:rPr lang="en-US" sz="1300" dirty="0">
                <a:solidFill>
                  <a:srgbClr val="17203A"/>
                </a:solidFill>
                <a:latin typeface="Calibri" pitchFamily="34" charset="0"/>
                <a:ea typeface="Calibri" pitchFamily="34" charset="-122"/>
                <a:cs typeface="Calibri" pitchFamily="34" charset="-120"/>
              </a:rPr>
              <a:t>Mean time between failures</a:t>
            </a:r>
            <a:endParaRPr lang="en-US" sz="1300" dirty="0"/>
          </a:p>
        </p:txBody>
      </p:sp>
      <p:sp>
        <p:nvSpPr>
          <p:cNvPr id="13" name="Shape 11"/>
          <p:cNvSpPr/>
          <p:nvPr/>
        </p:nvSpPr>
        <p:spPr>
          <a:xfrm>
            <a:off x="8046720" y="1965960"/>
            <a:ext cx="3429000" cy="1554480"/>
          </a:xfrm>
          <a:prstGeom prst="roundRect">
            <a:avLst>
              <a:gd name="adj" fmla="val 4706"/>
            </a:avLst>
          </a:prstGeom>
          <a:solidFill>
            <a:srgbClr val="F4F6FB"/>
          </a:solidFill>
          <a:ln/>
        </p:spPr>
      </p:sp>
      <p:sp>
        <p:nvSpPr>
          <p:cNvPr id="14" name="Shape 12"/>
          <p:cNvSpPr/>
          <p:nvPr/>
        </p:nvSpPr>
        <p:spPr>
          <a:xfrm>
            <a:off x="8046720" y="1965960"/>
            <a:ext cx="82296" cy="1554480"/>
          </a:xfrm>
          <a:prstGeom prst="rect">
            <a:avLst/>
          </a:prstGeom>
          <a:solidFill>
            <a:srgbClr val="E07A1F"/>
          </a:solidFill>
          <a:ln/>
        </p:spPr>
      </p:sp>
      <p:sp>
        <p:nvSpPr>
          <p:cNvPr id="15" name="Text 13"/>
          <p:cNvSpPr/>
          <p:nvPr/>
        </p:nvSpPr>
        <p:spPr>
          <a:xfrm>
            <a:off x="8321040" y="2167128"/>
            <a:ext cx="2971800" cy="640080"/>
          </a:xfrm>
          <a:prstGeom prst="rect">
            <a:avLst/>
          </a:prstGeom>
          <a:noFill/>
          <a:ln/>
        </p:spPr>
        <p:txBody>
          <a:bodyPr wrap="square" lIns="0" tIns="0" rIns="0" bIns="0" rtlCol="0" anchor="ctr"/>
          <a:lstStyle/>
          <a:p>
            <a:pPr indent="0" marL="0">
              <a:buNone/>
            </a:pPr>
            <a:r>
              <a:rPr lang="en-US" sz="3000" b="1" dirty="0">
                <a:solidFill>
                  <a:srgbClr val="E07A1F"/>
                </a:solidFill>
                <a:latin typeface="Cambria" pitchFamily="34" charset="0"/>
                <a:ea typeface="Cambria" pitchFamily="34" charset="-122"/>
                <a:cs typeface="Cambria" pitchFamily="34" charset="-120"/>
              </a:rPr>
              <a:t>[__ / __]</a:t>
            </a:r>
            <a:endParaRPr lang="en-US" sz="3000" dirty="0"/>
          </a:p>
        </p:txBody>
      </p:sp>
      <p:sp>
        <p:nvSpPr>
          <p:cNvPr id="16" name="Text 14"/>
          <p:cNvSpPr/>
          <p:nvPr/>
        </p:nvSpPr>
        <p:spPr>
          <a:xfrm>
            <a:off x="8321040" y="2880360"/>
            <a:ext cx="2926080" cy="548640"/>
          </a:xfrm>
          <a:prstGeom prst="rect">
            <a:avLst/>
          </a:prstGeom>
          <a:noFill/>
          <a:ln/>
        </p:spPr>
        <p:txBody>
          <a:bodyPr wrap="square" lIns="0" tIns="0" rIns="0" bIns="0" rtlCol="0" anchor="ctr"/>
          <a:lstStyle/>
          <a:p>
            <a:pPr indent="0" marL="0">
              <a:buNone/>
            </a:pPr>
            <a:r>
              <a:rPr lang="en-US" sz="1300" dirty="0">
                <a:solidFill>
                  <a:srgbClr val="17203A"/>
                </a:solidFill>
                <a:latin typeface="Calibri" pitchFamily="34" charset="0"/>
                <a:ea typeface="Calibri" pitchFamily="34" charset="-122"/>
                <a:cs typeface="Calibri" pitchFamily="34" charset="-120"/>
              </a:rPr>
              <a:t>Predictive-maintenance flags resolved</a:t>
            </a:r>
            <a:endParaRPr lang="en-US" sz="1300" dirty="0"/>
          </a:p>
        </p:txBody>
      </p:sp>
      <p:sp>
        <p:nvSpPr>
          <p:cNvPr id="17" name="Shape 15"/>
          <p:cNvSpPr/>
          <p:nvPr/>
        </p:nvSpPr>
        <p:spPr>
          <a:xfrm>
            <a:off x="548640" y="3794760"/>
            <a:ext cx="11064240" cy="2240280"/>
          </a:xfrm>
          <a:prstGeom prst="roundRect">
            <a:avLst>
              <a:gd name="adj" fmla="val 3265"/>
            </a:avLst>
          </a:prstGeom>
          <a:solidFill>
            <a:srgbClr val="F4F6FB"/>
          </a:solidFill>
          <a:ln/>
        </p:spPr>
      </p:sp>
      <p:sp>
        <p:nvSpPr>
          <p:cNvPr id="18" name="Text 16"/>
          <p:cNvSpPr/>
          <p:nvPr/>
        </p:nvSpPr>
        <p:spPr>
          <a:xfrm>
            <a:off x="914400" y="402336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insight from Week 7</a:t>
            </a:r>
            <a:endParaRPr lang="en-US" sz="1300" dirty="0"/>
          </a:p>
        </p:txBody>
      </p:sp>
      <p:sp>
        <p:nvSpPr>
          <p:cNvPr id="19" name="Text 17"/>
          <p:cNvSpPr/>
          <p:nvPr/>
        </p:nvSpPr>
        <p:spPr>
          <a:xfrm>
            <a:off x="914400" y="4343400"/>
            <a:ext cx="10332720" cy="1463040"/>
          </a:xfrm>
          <a:prstGeom prst="rect">
            <a:avLst/>
          </a:prstGeom>
          <a:noFill/>
          <a:ln/>
        </p:spPr>
        <p:txBody>
          <a:bodyPr wrap="square" lIns="0" tIns="0" rIns="0" bIns="0" rtlCol="0" anchor="ctr"/>
          <a:lstStyle/>
          <a:p>
            <a:pPr indent="0" marL="0">
              <a:lnSpc>
                <a:spcPct val="120000"/>
              </a:lnSpc>
              <a:buNone/>
            </a:pPr>
            <a:r>
              <a:rPr lang="en-US" sz="1300" i="1" dirty="0">
                <a:solidFill>
                  <a:srgbClr val="17203A"/>
                </a:solidFill>
                <a:latin typeface="Calibri" pitchFamily="34" charset="0"/>
                <a:ea typeface="Calibri" pitchFamily="34" charset="-122"/>
                <a:cs typeface="Calibri" pitchFamily="34" charset="-120"/>
              </a:rPr>
              <a:t>[Insert your one-sentence takeaway from the Week 7 equipment-health analysis here — e.g. which asset class needs earliest replacement or which maintenance change had the biggest impact.]</a:t>
            </a:r>
            <a:endParaRPr lang="en-US" sz="13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4  |  Quarterly Operations Review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WEEK 8 — SUPPLY CHAIN PERFORMANCE</a:t>
            </a:r>
            <a:endParaRPr lang="en-US" sz="1300" dirty="0"/>
          </a:p>
        </p:txBody>
      </p:sp>
      <p:sp>
        <p:nvSpPr>
          <p:cNvPr id="3" name="Text 1"/>
          <p:cNvSpPr/>
          <p:nvPr/>
        </p:nvSpPr>
        <p:spPr>
          <a:xfrm>
            <a:off x="548640" y="777240"/>
            <a:ext cx="10515600" cy="548640"/>
          </a:xfrm>
          <a:prstGeom prst="rect">
            <a:avLst/>
          </a:prstGeom>
          <a:noFill/>
          <a:ln/>
        </p:spPr>
        <p:txBody>
          <a:bodyPr wrap="square" lIns="0" tIns="0" rIns="0" bIns="0" rtlCol="0" anchor="ctr"/>
          <a:lstStyle/>
          <a:p>
            <a:pPr indent="0" marL="0">
              <a:buNone/>
            </a:pPr>
            <a:r>
              <a:rPr lang="en-US" sz="2800" b="1" dirty="0">
                <a:solidFill>
                  <a:srgbClr val="17203A"/>
                </a:solidFill>
                <a:latin typeface="Cambria" pitchFamily="34" charset="0"/>
                <a:ea typeface="Cambria" pitchFamily="34" charset="-122"/>
                <a:cs typeface="Cambria" pitchFamily="34" charset="-120"/>
              </a:rPr>
              <a:t>Demand Is Forecastable — and Now Forecast</a:t>
            </a:r>
            <a:endParaRPr lang="en-US" sz="2800" dirty="0"/>
          </a:p>
        </p:txBody>
      </p:sp>
      <p:graphicFrame>
        <p:nvGraphicFramePr>
          <p:cNvPr id="4" name="Chart 0" descr=""/>
          <p:cNvGraphicFramePr/>
          <p:nvPr/>
        </p:nvGraphicFramePr>
        <p:xfrm>
          <a:off x="548640" y="1463040"/>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08760"/>
            <a:ext cx="3931920" cy="960120"/>
          </a:xfrm>
          <a:prstGeom prst="roundRect">
            <a:avLst>
              <a:gd name="adj" fmla="val 6667"/>
            </a:avLst>
          </a:prstGeom>
          <a:solidFill>
            <a:srgbClr val="F4F6FB"/>
          </a:solidFill>
          <a:ln/>
        </p:spPr>
      </p:sp>
      <p:sp>
        <p:nvSpPr>
          <p:cNvPr id="6" name="Text 3"/>
          <p:cNvSpPr/>
          <p:nvPr/>
        </p:nvSpPr>
        <p:spPr>
          <a:xfrm>
            <a:off x="7909560" y="1600200"/>
            <a:ext cx="1645920" cy="777240"/>
          </a:xfrm>
          <a:prstGeom prst="rect">
            <a:avLst/>
          </a:prstGeom>
          <a:noFill/>
          <a:ln/>
        </p:spPr>
        <p:txBody>
          <a:bodyPr wrap="square" lIns="0" tIns="0" rIns="0" bIns="0" rtlCol="0" anchor="ctr"/>
          <a:lstStyle/>
          <a:p>
            <a:pPr indent="0" marL="0">
              <a:buNone/>
            </a:pPr>
            <a:r>
              <a:rPr lang="en-US" sz="2600" b="1" dirty="0">
                <a:solidFill>
                  <a:srgbClr val="2E9B3F"/>
                </a:solidFill>
                <a:latin typeface="Cambria" pitchFamily="34" charset="0"/>
                <a:ea typeface="Cambria" pitchFamily="34" charset="-122"/>
                <a:cs typeface="Cambria" pitchFamily="34" charset="-120"/>
              </a:rPr>
              <a:t>5.3%</a:t>
            </a:r>
            <a:endParaRPr lang="en-US" sz="2600" dirty="0"/>
          </a:p>
        </p:txBody>
      </p:sp>
      <p:sp>
        <p:nvSpPr>
          <p:cNvPr id="7" name="Text 4"/>
          <p:cNvSpPr/>
          <p:nvPr/>
        </p:nvSpPr>
        <p:spPr>
          <a:xfrm>
            <a:off x="9464040" y="1600200"/>
            <a:ext cx="2011680" cy="777240"/>
          </a:xfrm>
          <a:prstGeom prst="rect">
            <a:avLst/>
          </a:prstGeom>
          <a:noFill/>
          <a:ln/>
        </p:spPr>
        <p:txBody>
          <a:bodyPr wrap="square" lIns="0" tIns="0" rIns="0" bIns="0" rtlCol="0" anchor="ctr"/>
          <a:lstStyle/>
          <a:p>
            <a:pPr indent="0" marL="0">
              <a:buNone/>
            </a:pPr>
            <a:r>
              <a:rPr lang="en-US" sz="1100" dirty="0">
                <a:solidFill>
                  <a:srgbClr val="17203A"/>
                </a:solidFill>
                <a:latin typeface="Calibri" pitchFamily="34" charset="0"/>
                <a:ea typeface="Calibri" pitchFamily="34" charset="-122"/>
                <a:cs typeface="Calibri" pitchFamily="34" charset="-120"/>
              </a:rPr>
              <a:t>MAPE on holdout test window</a:t>
            </a:r>
            <a:endParaRPr lang="en-US" sz="1100" dirty="0"/>
          </a:p>
        </p:txBody>
      </p:sp>
      <p:sp>
        <p:nvSpPr>
          <p:cNvPr id="8" name="Shape 5"/>
          <p:cNvSpPr/>
          <p:nvPr/>
        </p:nvSpPr>
        <p:spPr>
          <a:xfrm>
            <a:off x="7680960" y="2651760"/>
            <a:ext cx="3931920" cy="960120"/>
          </a:xfrm>
          <a:prstGeom prst="roundRect">
            <a:avLst>
              <a:gd name="adj" fmla="val 6667"/>
            </a:avLst>
          </a:prstGeom>
          <a:solidFill>
            <a:srgbClr val="F4F6FB"/>
          </a:solidFill>
          <a:ln/>
        </p:spPr>
      </p:sp>
      <p:sp>
        <p:nvSpPr>
          <p:cNvPr id="9" name="Text 6"/>
          <p:cNvSpPr/>
          <p:nvPr/>
        </p:nvSpPr>
        <p:spPr>
          <a:xfrm>
            <a:off x="7909560" y="2743200"/>
            <a:ext cx="164592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±15.4</a:t>
            </a:r>
            <a:endParaRPr lang="en-US" sz="2600" dirty="0"/>
          </a:p>
        </p:txBody>
      </p:sp>
      <p:sp>
        <p:nvSpPr>
          <p:cNvPr id="10" name="Text 7"/>
          <p:cNvSpPr/>
          <p:nvPr/>
        </p:nvSpPr>
        <p:spPr>
          <a:xfrm>
            <a:off x="9464040" y="2743200"/>
            <a:ext cx="2011680" cy="777240"/>
          </a:xfrm>
          <a:prstGeom prst="rect">
            <a:avLst/>
          </a:prstGeom>
          <a:noFill/>
          <a:ln/>
        </p:spPr>
        <p:txBody>
          <a:bodyPr wrap="square" lIns="0" tIns="0" rIns="0" bIns="0" rtlCol="0" anchor="ctr"/>
          <a:lstStyle/>
          <a:p>
            <a:pPr indent="0" marL="0">
              <a:buNone/>
            </a:pPr>
            <a:r>
              <a:rPr lang="en-US" sz="1100" dirty="0">
                <a:solidFill>
                  <a:srgbClr val="17203A"/>
                </a:solidFill>
                <a:latin typeface="Calibri" pitchFamily="34" charset="0"/>
                <a:ea typeface="Calibri" pitchFamily="34" charset="-122"/>
                <a:cs typeface="Calibri" pitchFamily="34" charset="-120"/>
              </a:rPr>
              <a:t>RMSE (units/day)</a:t>
            </a:r>
            <a:endParaRPr lang="en-US" sz="1100" dirty="0"/>
          </a:p>
        </p:txBody>
      </p:sp>
      <p:sp>
        <p:nvSpPr>
          <p:cNvPr id="11" name="Shape 8"/>
          <p:cNvSpPr/>
          <p:nvPr/>
        </p:nvSpPr>
        <p:spPr>
          <a:xfrm>
            <a:off x="7680960" y="3794760"/>
            <a:ext cx="3931920" cy="960120"/>
          </a:xfrm>
          <a:prstGeom prst="roundRect">
            <a:avLst>
              <a:gd name="adj" fmla="val 6667"/>
            </a:avLst>
          </a:prstGeom>
          <a:solidFill>
            <a:srgbClr val="F4F6FB"/>
          </a:solidFill>
          <a:ln/>
        </p:spPr>
      </p:sp>
      <p:sp>
        <p:nvSpPr>
          <p:cNvPr id="12" name="Text 9"/>
          <p:cNvSpPr/>
          <p:nvPr/>
        </p:nvSpPr>
        <p:spPr>
          <a:xfrm>
            <a:off x="7909560" y="3886200"/>
            <a:ext cx="1645920" cy="777240"/>
          </a:xfrm>
          <a:prstGeom prst="rect">
            <a:avLst/>
          </a:prstGeom>
          <a:noFill/>
          <a:ln/>
        </p:spPr>
        <p:txBody>
          <a:bodyPr wrap="square" lIns="0" tIns="0" rIns="0" bIns="0" rtlCol="0" anchor="ctr"/>
          <a:lstStyle/>
          <a:p>
            <a:pPr indent="0" marL="0">
              <a:buNone/>
            </a:pPr>
            <a:r>
              <a:rPr lang="en-US" sz="2600" b="1" dirty="0">
                <a:solidFill>
                  <a:srgbClr val="E07A1F"/>
                </a:solidFill>
                <a:latin typeface="Cambria" pitchFamily="34" charset="0"/>
                <a:ea typeface="Cambria" pitchFamily="34" charset="-122"/>
                <a:cs typeface="Cambria" pitchFamily="34" charset="-120"/>
              </a:rPr>
              <a:t>45 days</a:t>
            </a:r>
            <a:endParaRPr lang="en-US" sz="2600" dirty="0"/>
          </a:p>
        </p:txBody>
      </p:sp>
      <p:sp>
        <p:nvSpPr>
          <p:cNvPr id="13" name="Text 10"/>
          <p:cNvSpPr/>
          <p:nvPr/>
        </p:nvSpPr>
        <p:spPr>
          <a:xfrm>
            <a:off x="9464040" y="3886200"/>
            <a:ext cx="2011680" cy="777240"/>
          </a:xfrm>
          <a:prstGeom prst="rect">
            <a:avLst/>
          </a:prstGeom>
          <a:noFill/>
          <a:ln/>
        </p:spPr>
        <p:txBody>
          <a:bodyPr wrap="square" lIns="0" tIns="0" rIns="0" bIns="0" rtlCol="0" anchor="ctr"/>
          <a:lstStyle/>
          <a:p>
            <a:pPr indent="0" marL="0">
              <a:buNone/>
            </a:pPr>
            <a:r>
              <a:rPr lang="en-US" sz="1100" dirty="0">
                <a:solidFill>
                  <a:srgbClr val="17203A"/>
                </a:solidFill>
                <a:latin typeface="Calibri" pitchFamily="34" charset="0"/>
                <a:ea typeface="Calibri" pitchFamily="34" charset="-122"/>
                <a:cs typeface="Calibri" pitchFamily="34" charset="-120"/>
              </a:rPr>
              <a:t>Forecast horizon produced</a:t>
            </a:r>
            <a:endParaRPr lang="en-US" sz="1100" dirty="0"/>
          </a:p>
        </p:txBody>
      </p:sp>
      <p:sp>
        <p:nvSpPr>
          <p:cNvPr id="14" name="Text 11"/>
          <p:cNvSpPr/>
          <p:nvPr/>
        </p:nvSpPr>
        <p:spPr>
          <a:xfrm>
            <a:off x="7680960" y="4983480"/>
            <a:ext cx="3931920" cy="1005840"/>
          </a:xfrm>
          <a:prstGeom prst="rect">
            <a:avLst/>
          </a:prstGeom>
          <a:noFill/>
          <a:ln/>
        </p:spPr>
        <p:txBody>
          <a:bodyPr wrap="square" lIns="0" tIns="0" rIns="0" bIns="0" rtlCol="0" anchor="ctr"/>
          <a:lstStyle/>
          <a:p>
            <a:pPr indent="0" marL="0">
              <a:lnSpc>
                <a:spcPct val="120000"/>
              </a:lnSpc>
              <a:buNone/>
            </a:pPr>
            <a:r>
              <a:rPr lang="en-US" sz="1100" i="1" dirty="0">
                <a:solidFill>
                  <a:srgbClr val="5A6B94"/>
                </a:solidFill>
                <a:latin typeface="Calibri" pitchFamily="34" charset="0"/>
                <a:ea typeface="Calibri" pitchFamily="34" charset="-122"/>
                <a:cs typeface="Calibri" pitchFamily="34" charset="-120"/>
              </a:rPr>
              <a:t>Model includes a promotions regressor and Kenyan public holidays as explicit external drivers of demand.</a:t>
            </a:r>
            <a:endParaRPr lang="en-US" sz="1100" dirty="0"/>
          </a:p>
        </p:txBody>
      </p:sp>
      <p:sp>
        <p:nvSpPr>
          <p:cNvPr id="15"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5  |  Quarterly Operations Review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WEEK 8 — SUPPLY CHAIN PERFORMANCE</a:t>
            </a:r>
            <a:endParaRPr lang="en-US" sz="1300" dirty="0"/>
          </a:p>
        </p:txBody>
      </p:sp>
      <p:sp>
        <p:nvSpPr>
          <p:cNvPr id="3" name="Text 1"/>
          <p:cNvSpPr/>
          <p:nvPr/>
        </p:nvSpPr>
        <p:spPr>
          <a:xfrm>
            <a:off x="548640" y="777240"/>
            <a:ext cx="10515600" cy="548640"/>
          </a:xfrm>
          <a:prstGeom prst="rect">
            <a:avLst/>
          </a:prstGeom>
          <a:noFill/>
          <a:ln/>
        </p:spPr>
        <p:txBody>
          <a:bodyPr wrap="square" lIns="0" tIns="0" rIns="0" bIns="0" rtlCol="0" anchor="ctr"/>
          <a:lstStyle/>
          <a:p>
            <a:pPr indent="0" marL="0">
              <a:buNone/>
            </a:pPr>
            <a:r>
              <a:rPr lang="en-US" sz="2800" b="1" dirty="0">
                <a:solidFill>
                  <a:srgbClr val="17203A"/>
                </a:solidFill>
                <a:latin typeface="Cambria" pitchFamily="34" charset="0"/>
                <a:ea typeface="Cambria" pitchFamily="34" charset="-122"/>
                <a:cs typeface="Cambria" pitchFamily="34" charset="-120"/>
              </a:rPr>
              <a:t>Right-Sizing the Safety Buffer</a:t>
            </a:r>
            <a:endParaRPr lang="en-US" sz="2800" dirty="0"/>
          </a:p>
        </p:txBody>
      </p:sp>
      <p:graphicFrame>
        <p:nvGraphicFramePr>
          <p:cNvPr id="4" name="Chart 0" descr=""/>
          <p:cNvGraphicFramePr/>
          <p:nvPr/>
        </p:nvGraphicFramePr>
        <p:xfrm>
          <a:off x="548640" y="150876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89320" y="1508760"/>
            <a:ext cx="5623560" cy="1600200"/>
          </a:xfrm>
          <a:prstGeom prst="roundRect">
            <a:avLst>
              <a:gd name="adj" fmla="val 4571"/>
            </a:avLst>
          </a:prstGeom>
          <a:solidFill>
            <a:srgbClr val="1E2761"/>
          </a:solidFill>
          <a:ln/>
        </p:spPr>
      </p:sp>
      <p:sp>
        <p:nvSpPr>
          <p:cNvPr id="6" name="Text 3"/>
          <p:cNvSpPr/>
          <p:nvPr/>
        </p:nvSpPr>
        <p:spPr>
          <a:xfrm>
            <a:off x="6263640" y="1645920"/>
            <a:ext cx="20116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86%</a:t>
            </a:r>
            <a:endParaRPr lang="en-US" sz="4000" dirty="0"/>
          </a:p>
        </p:txBody>
      </p:sp>
      <p:sp>
        <p:nvSpPr>
          <p:cNvPr id="7" name="Text 4"/>
          <p:cNvSpPr/>
          <p:nvPr/>
        </p:nvSpPr>
        <p:spPr>
          <a:xfrm>
            <a:off x="8183880" y="1645920"/>
            <a:ext cx="3246120" cy="132588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reduction in units tied up as excess buffer stock — freeing capacity and working capital, at the same 95% protection level.</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89320" y="3337560"/>
          <a:ext cx="5623560" cy="1691640"/>
        </p:xfrm>
        <a:graphic>
          <a:graphicData uri="http://schemas.openxmlformats.org/drawingml/2006/table">
            <a:tbl>
              <a:tblPr/>
              <a:tblGrid>
                <a:gridCol w="2811780"/>
                <a:gridCol w="2811780"/>
              </a:tblGrid>
              <a:tr h="338328">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Assumption</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Lead time</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7 days</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Target service level</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95%  (Z = 1.645)</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Demand variability (σ)</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10.5 units/day — measured from forecast error, not assumed</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Reorder point</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150" dirty="0">
                          <a:solidFill>
                            <a:srgbClr val="17203A"/>
                          </a:solidFill>
                          <a:latin typeface="Calibri" pitchFamily="34" charset="0"/>
                          <a:ea typeface="Calibri" pitchFamily="34" charset="-122"/>
                          <a:cs typeface="Calibri" pitchFamily="34" charset="-120"/>
                        </a:rPr>
                        <a:t>≈ 1,633 units</a:t>
                      </a:r>
                      <a:endParaRPr lang="en-US" sz="115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bl>
          </a:graphicData>
        </a:graphic>
      </p:graphicFrame>
      <p:sp>
        <p:nvSpPr>
          <p:cNvPr id="9" name="Text 5"/>
          <p:cNvSpPr/>
          <p:nvPr/>
        </p:nvSpPr>
        <p:spPr>
          <a:xfrm>
            <a:off x="5989320" y="5166360"/>
            <a:ext cx="5623560" cy="777240"/>
          </a:xfrm>
          <a:prstGeom prst="rect">
            <a:avLst/>
          </a:prstGeom>
          <a:noFill/>
          <a:ln/>
        </p:spPr>
        <p:txBody>
          <a:bodyPr wrap="square" lIns="0" tIns="0" rIns="0" bIns="0" rtlCol="0" anchor="ctr"/>
          <a:lstStyle/>
          <a:p>
            <a:pPr indent="0" marL="0">
              <a:lnSpc>
                <a:spcPct val="115000"/>
              </a:lnSpc>
              <a:buNone/>
            </a:pPr>
            <a:r>
              <a:rPr lang="en-US" sz="1100" i="1" dirty="0">
                <a:solidFill>
                  <a:srgbClr val="5A6B94"/>
                </a:solidFill>
                <a:latin typeface="Calibri" pitchFamily="34" charset="0"/>
                <a:ea typeface="Calibri" pitchFamily="34" charset="-122"/>
                <a:cs typeface="Calibri" pitchFamily="34" charset="-120"/>
              </a:rPr>
              <a:t>Without a sized buffer, the reorder point sits exactly at average demand — a coin-flip (~50%) chance of stockout every cycle. Sizing it to 1.645σ cuts that risk to 5%.</a:t>
            </a:r>
            <a:endParaRPr lang="en-US" sz="11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6  |  Quarterly Operations Review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E07A1F"/>
                </a:solidFill>
                <a:latin typeface="Calibri" pitchFamily="34" charset="0"/>
                <a:ea typeface="Calibri" pitchFamily="34" charset="-122"/>
                <a:cs typeface="Calibri" pitchFamily="34" charset="-120"/>
              </a:rPr>
              <a:t>WEEK 8 — SUPPLY CHAIN PERFORMANCE</a:t>
            </a:r>
            <a:endParaRPr lang="en-US" sz="1300" dirty="0"/>
          </a:p>
        </p:txBody>
      </p:sp>
      <p:sp>
        <p:nvSpPr>
          <p:cNvPr id="3" name="Text 1"/>
          <p:cNvSpPr/>
          <p:nvPr/>
        </p:nvSpPr>
        <p:spPr>
          <a:xfrm>
            <a:off x="548640" y="777240"/>
            <a:ext cx="10515600" cy="548640"/>
          </a:xfrm>
          <a:prstGeom prst="rect">
            <a:avLst/>
          </a:prstGeom>
          <a:noFill/>
          <a:ln/>
        </p:spPr>
        <p:txBody>
          <a:bodyPr wrap="square" lIns="0" tIns="0" rIns="0" bIns="0" rtlCol="0" anchor="ctr"/>
          <a:lstStyle/>
          <a:p>
            <a:pPr indent="0" marL="0">
              <a:buNone/>
            </a:pPr>
            <a:r>
              <a:rPr lang="en-US" sz="2700" b="1" dirty="0">
                <a:solidFill>
                  <a:srgbClr val="17203A"/>
                </a:solidFill>
                <a:latin typeface="Cambria" pitchFamily="34" charset="0"/>
                <a:ea typeface="Cambria" pitchFamily="34" charset="-122"/>
                <a:cs typeface="Cambria" pitchFamily="34" charset="-120"/>
              </a:rPr>
              <a:t>Lowest-Cost Path From Warehouse to Region</a:t>
            </a:r>
            <a:endParaRPr lang="en-US" sz="2700" dirty="0"/>
          </a:p>
        </p:txBody>
      </p:sp>
      <p:graphicFrame>
        <p:nvGraphicFramePr>
          <p:cNvPr id="4" name="Chart 0" descr=""/>
          <p:cNvGraphicFramePr/>
          <p:nvPr/>
        </p:nvGraphicFramePr>
        <p:xfrm>
          <a:off x="548640" y="150876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89320" y="1508760"/>
            <a:ext cx="5623560" cy="1600200"/>
          </a:xfrm>
          <a:prstGeom prst="roundRect">
            <a:avLst>
              <a:gd name="adj" fmla="val 4571"/>
            </a:avLst>
          </a:prstGeom>
          <a:solidFill>
            <a:srgbClr val="1E2761"/>
          </a:solidFill>
          <a:ln/>
        </p:spPr>
      </p:sp>
      <p:sp>
        <p:nvSpPr>
          <p:cNvPr id="6" name="Text 3"/>
          <p:cNvSpPr/>
          <p:nvPr/>
        </p:nvSpPr>
        <p:spPr>
          <a:xfrm>
            <a:off x="6263640" y="1645920"/>
            <a:ext cx="20116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46%</a:t>
            </a:r>
            <a:endParaRPr lang="en-US" sz="4000" dirty="0"/>
          </a:p>
        </p:txBody>
      </p:sp>
      <p:sp>
        <p:nvSpPr>
          <p:cNvPr id="7" name="Text 4"/>
          <p:cNvSpPr/>
          <p:nvPr/>
        </p:nvSpPr>
        <p:spPr>
          <a:xfrm>
            <a:off x="8183880" y="1645920"/>
            <a:ext cx="3246120" cy="1325880"/>
          </a:xfrm>
          <a:prstGeom prst="rect">
            <a:avLst/>
          </a:prstGeom>
          <a:noFill/>
          <a:ln/>
        </p:spPr>
        <p:txBody>
          <a:bodyPr wrap="square" lIns="0" tIns="0" rIns="0" bIns="0"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lower weekly shipping cost — about $3,320/week, or an estimated $172K/year at current demand levels.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89320" y="3337560"/>
          <a:ext cx="5623560" cy="1371600"/>
        </p:xfrm>
        <a:graphic>
          <a:graphicData uri="http://schemas.openxmlformats.org/drawingml/2006/table">
            <a:tbl>
              <a:tblPr/>
              <a:tblGrid>
                <a:gridCol w="2811780"/>
                <a:gridCol w="2811780"/>
              </a:tblGrid>
              <a:tr h="338328">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Warehouse → Region</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Units/week</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Nairobi DC → Central</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923</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Mombasa DC → Coast</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554</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r h="338328">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Nairobi DC → Western</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c>
                  <a:txBody>
                    <a:bodyPr/>
                    <a:lstStyle/>
                    <a:p>
                      <a:pPr indent="0" marL="0">
                        <a:buNone/>
                      </a:pPr>
                      <a:r>
                        <a:rPr lang="en-US" sz="1200" dirty="0">
                          <a:solidFill>
                            <a:srgbClr val="17203A"/>
                          </a:solidFill>
                          <a:latin typeface="Calibri" pitchFamily="34" charset="0"/>
                          <a:ea typeface="Calibri" pitchFamily="34" charset="-122"/>
                          <a:cs typeface="Calibri" pitchFamily="34" charset="-120"/>
                        </a:rPr>
                        <a:t>369</a:t>
                      </a:r>
                      <a:endParaRPr lang="en-US" sz="1200" dirty="0">
                        <a:latin typeface="Calibri" charset="0"/>
                        <a:ea typeface="Calibri" charset="0"/>
                        <a:cs typeface="Calibri" charset="0"/>
                      </a:endParaRPr>
                    </a:p>
                  </a:txBody>
                  <a:tcPr marL="91440" marR="91440" marT="45720" marB="45720">
                    <a:lnL w="12700" cap="flat" cmpd="sng" algn="ctr">
                      <a:solidFill>
                        <a:srgbClr val="DDE3F0"/>
                      </a:solidFill>
                      <a:prstDash val="solid"/>
                      <a:round/>
                      <a:headEnd type="none" w="med" len="med"/>
                      <a:tailEnd type="none" w="med" len="med"/>
                    </a:lnL>
                    <a:lnR w="12700" cap="flat" cmpd="sng" algn="ctr">
                      <a:solidFill>
                        <a:srgbClr val="DDE3F0"/>
                      </a:solidFill>
                      <a:prstDash val="solid"/>
                      <a:round/>
                      <a:headEnd type="none" w="med" len="med"/>
                      <a:tailEnd type="none" w="med" len="med"/>
                    </a:lnR>
                    <a:lnT w="12700" cap="flat" cmpd="sng" algn="ctr">
                      <a:solidFill>
                        <a:srgbClr val="DDE3F0"/>
                      </a:solidFill>
                      <a:prstDash val="solid"/>
                      <a:round/>
                      <a:headEnd type="none" w="med" len="med"/>
                      <a:tailEnd type="none" w="med" len="med"/>
                    </a:lnT>
                    <a:lnB w="12700" cap="flat" cmpd="sng" algn="ctr">
                      <a:solidFill>
                        <a:srgbClr val="DDE3F0"/>
                      </a:solidFill>
                      <a:prstDash val="solid"/>
                      <a:round/>
                      <a:headEnd type="none" w="med" len="med"/>
                      <a:tailEnd type="none" w="med" len="med"/>
                    </a:lnB>
                    <a:solidFill>
                      <a:srgbClr val="F4F6FB"/>
                    </a:solidFill>
                  </a:tcPr>
                </a:tc>
              </a:tr>
            </a:tbl>
          </a:graphicData>
        </a:graphic>
      </p:graphicFrame>
      <p:sp>
        <p:nvSpPr>
          <p:cNvPr id="9" name="Text 5"/>
          <p:cNvSpPr/>
          <p:nvPr/>
        </p:nvSpPr>
        <p:spPr>
          <a:xfrm>
            <a:off x="5989320" y="4846320"/>
            <a:ext cx="5623560" cy="822960"/>
          </a:xfrm>
          <a:prstGeom prst="rect">
            <a:avLst/>
          </a:prstGeom>
          <a:noFill/>
          <a:ln/>
        </p:spPr>
        <p:txBody>
          <a:bodyPr wrap="square" lIns="0" tIns="0" rIns="0" bIns="0" rtlCol="0" anchor="ctr"/>
          <a:lstStyle/>
          <a:p>
            <a:pPr indent="0" marL="0">
              <a:lnSpc>
                <a:spcPct val="115000"/>
              </a:lnSpc>
              <a:buNone/>
            </a:pPr>
            <a:r>
              <a:rPr lang="en-US" sz="1100" i="1" dirty="0">
                <a:solidFill>
                  <a:srgbClr val="5A6B94"/>
                </a:solidFill>
                <a:latin typeface="Calibri" pitchFamily="34" charset="0"/>
                <a:ea typeface="Calibri" pitchFamily="34" charset="-122"/>
                <a:cs typeface="Calibri" pitchFamily="34" charset="-120"/>
              </a:rPr>
              <a:t>Solved via linear programming (PuLP): minimize total shipping cost subject to each region's demand being met and each warehouse's weekly capacity.</a:t>
            </a:r>
            <a:endParaRPr lang="en-US" sz="1100" dirty="0"/>
          </a:p>
        </p:txBody>
      </p:sp>
      <p:sp>
        <p:nvSpPr>
          <p:cNvPr id="10" name="Text 6"/>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7  |  Quarterly Operations Review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548640" y="457200"/>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STRATEGIC RECOMMENDATIONS</a:t>
            </a:r>
            <a:endParaRPr lang="en-US" sz="1300" dirty="0"/>
          </a:p>
        </p:txBody>
      </p:sp>
      <p:sp>
        <p:nvSpPr>
          <p:cNvPr id="4" name="Text 2"/>
          <p:cNvSpPr/>
          <p:nvPr/>
        </p:nvSpPr>
        <p:spPr>
          <a:xfrm>
            <a:off x="548640" y="77724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Moves, Ranked by Impact</a:t>
            </a:r>
            <a:endParaRPr lang="en-US" sz="3000" dirty="0"/>
          </a:p>
        </p:txBody>
      </p:sp>
      <p:sp>
        <p:nvSpPr>
          <p:cNvPr id="5" name="Shape 3"/>
          <p:cNvSpPr/>
          <p:nvPr/>
        </p:nvSpPr>
        <p:spPr>
          <a:xfrm>
            <a:off x="548640" y="1600200"/>
            <a:ext cx="502920" cy="502920"/>
          </a:xfrm>
          <a:prstGeom prst="ellipse">
            <a:avLst/>
          </a:prstGeom>
          <a:solidFill>
            <a:srgbClr val="E07A1F"/>
          </a:solidFill>
          <a:ln/>
        </p:spPr>
      </p:sp>
      <p:sp>
        <p:nvSpPr>
          <p:cNvPr id="6" name="Text 4"/>
          <p:cNvSpPr/>
          <p:nvPr/>
        </p:nvSpPr>
        <p:spPr>
          <a:xfrm>
            <a:off x="548640" y="160020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34440" y="1572768"/>
            <a:ext cx="9875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Adopt the LP-optimized distribution routing</a:t>
            </a:r>
            <a:endParaRPr lang="en-US" sz="1600" dirty="0"/>
          </a:p>
        </p:txBody>
      </p:sp>
      <p:sp>
        <p:nvSpPr>
          <p:cNvPr id="8" name="Text 6"/>
          <p:cNvSpPr/>
          <p:nvPr/>
        </p:nvSpPr>
        <p:spPr>
          <a:xfrm>
            <a:off x="1234440" y="1929384"/>
            <a:ext cx="987552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Shift standing shipping instructions to the cost-minimizing warehouse-to-region routes identified this quarter.</a:t>
            </a:r>
            <a:endParaRPr lang="en-US" sz="1200" dirty="0"/>
          </a:p>
        </p:txBody>
      </p:sp>
      <p:sp>
        <p:nvSpPr>
          <p:cNvPr id="9" name="Text 7"/>
          <p:cNvSpPr/>
          <p:nvPr/>
        </p:nvSpPr>
        <p:spPr>
          <a:xfrm>
            <a:off x="1234440" y="2258568"/>
            <a:ext cx="9875520" cy="502920"/>
          </a:xfrm>
          <a:prstGeom prst="rect">
            <a:avLst/>
          </a:prstGeom>
          <a:noFill/>
          <a:ln/>
        </p:spPr>
        <p:txBody>
          <a:bodyPr wrap="square" lIns="0" tIns="0" rIns="0" bIns="0" rtlCol="0" anchor="ctr"/>
          <a:lstStyle/>
          <a:p>
            <a:pPr indent="0" marL="0">
              <a:lnSpc>
                <a:spcPct val="115000"/>
              </a:lnSpc>
              <a:buNone/>
            </a:pPr>
            <a:r>
              <a:rPr lang="en-US" sz="1150" b="1" dirty="0">
                <a:solidFill>
                  <a:srgbClr val="E07A1F"/>
                </a:solidFill>
                <a:latin typeface="Calibri" pitchFamily="34" charset="0"/>
                <a:ea typeface="Calibri" pitchFamily="34" charset="-122"/>
                <a:cs typeface="Calibri" pitchFamily="34" charset="-120"/>
              </a:rPr>
              <a:t>ROI: </a:t>
            </a:r>
            <a:pPr indent="0" marL="0">
              <a:lnSpc>
                <a:spcPct val="115000"/>
              </a:lnSpc>
              <a:buNone/>
            </a:pPr>
            <a:r>
              <a:rPr lang="en-US" sz="1150" dirty="0">
                <a:solidFill>
                  <a:srgbClr val="D8DFF2"/>
                </a:solidFill>
                <a:latin typeface="Calibri" pitchFamily="34" charset="0"/>
                <a:ea typeface="Calibri" pitchFamily="34" charset="-122"/>
                <a:cs typeface="Calibri" pitchFamily="34" charset="-120"/>
              </a:rPr>
              <a:t>Est. $172K/year in avoided shipping cost (46% weekly reduction), with no change to service levels.</a:t>
            </a:r>
            <a:endParaRPr lang="en-US" sz="1150" dirty="0"/>
          </a:p>
        </p:txBody>
      </p:sp>
      <p:sp>
        <p:nvSpPr>
          <p:cNvPr id="10" name="Shape 8"/>
          <p:cNvSpPr/>
          <p:nvPr/>
        </p:nvSpPr>
        <p:spPr>
          <a:xfrm>
            <a:off x="548640" y="3063240"/>
            <a:ext cx="502920" cy="502920"/>
          </a:xfrm>
          <a:prstGeom prst="ellipse">
            <a:avLst/>
          </a:prstGeom>
          <a:solidFill>
            <a:srgbClr val="2E9B3F"/>
          </a:solidFill>
          <a:ln/>
        </p:spPr>
      </p:sp>
      <p:sp>
        <p:nvSpPr>
          <p:cNvPr id="11" name="Text 9"/>
          <p:cNvSpPr/>
          <p:nvPr/>
        </p:nvSpPr>
        <p:spPr>
          <a:xfrm>
            <a:off x="548640" y="306324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234440" y="3035808"/>
            <a:ext cx="9875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Formalize the statistical reorder-point policy</a:t>
            </a:r>
            <a:endParaRPr lang="en-US" sz="1600" dirty="0"/>
          </a:p>
        </p:txBody>
      </p:sp>
      <p:sp>
        <p:nvSpPr>
          <p:cNvPr id="13" name="Text 11"/>
          <p:cNvSpPr/>
          <p:nvPr/>
        </p:nvSpPr>
        <p:spPr>
          <a:xfrm>
            <a:off x="1234440" y="3392424"/>
            <a:ext cx="987552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Replace ad-hoc reordering with the calculated reorder point and safety stock, refreshed each forecast cycle.</a:t>
            </a:r>
            <a:endParaRPr lang="en-US" sz="1200" dirty="0"/>
          </a:p>
        </p:txBody>
      </p:sp>
      <p:sp>
        <p:nvSpPr>
          <p:cNvPr id="14" name="Text 12"/>
          <p:cNvSpPr/>
          <p:nvPr/>
        </p:nvSpPr>
        <p:spPr>
          <a:xfrm>
            <a:off x="1234440" y="3721608"/>
            <a:ext cx="9875520" cy="502920"/>
          </a:xfrm>
          <a:prstGeom prst="rect">
            <a:avLst/>
          </a:prstGeom>
          <a:noFill/>
          <a:ln/>
        </p:spPr>
        <p:txBody>
          <a:bodyPr wrap="square" lIns="0" tIns="0" rIns="0" bIns="0" rtlCol="0" anchor="ctr"/>
          <a:lstStyle/>
          <a:p>
            <a:pPr indent="0" marL="0">
              <a:lnSpc>
                <a:spcPct val="115000"/>
              </a:lnSpc>
              <a:buNone/>
            </a:pPr>
            <a:r>
              <a:rPr lang="en-US" sz="1150" b="1" dirty="0">
                <a:solidFill>
                  <a:srgbClr val="2E9B3F"/>
                </a:solidFill>
                <a:latin typeface="Calibri" pitchFamily="34" charset="0"/>
                <a:ea typeface="Calibri" pitchFamily="34" charset="-122"/>
                <a:cs typeface="Calibri" pitchFamily="34" charset="-120"/>
              </a:rPr>
              <a:t>ROI: </a:t>
            </a:r>
            <a:pPr indent="0" marL="0">
              <a:lnSpc>
                <a:spcPct val="115000"/>
              </a:lnSpc>
              <a:buNone/>
            </a:pPr>
            <a:r>
              <a:rPr lang="en-US" sz="1150" dirty="0">
                <a:solidFill>
                  <a:srgbClr val="D8DFF2"/>
                </a:solidFill>
                <a:latin typeface="Calibri" pitchFamily="34" charset="0"/>
                <a:ea typeface="Calibri" pitchFamily="34" charset="-122"/>
                <a:cs typeface="Calibri" pitchFamily="34" charset="-120"/>
              </a:rPr>
              <a:t>Cuts stockout risk per cycle from ~50% to 5%, while cutting buffer inventory ~86% — freeing working capital currently sitting idle as excess stock.</a:t>
            </a:r>
            <a:endParaRPr lang="en-US" sz="1150" dirty="0"/>
          </a:p>
        </p:txBody>
      </p:sp>
      <p:sp>
        <p:nvSpPr>
          <p:cNvPr id="15" name="Shape 13"/>
          <p:cNvSpPr/>
          <p:nvPr/>
        </p:nvSpPr>
        <p:spPr>
          <a:xfrm>
            <a:off x="548640" y="4526280"/>
            <a:ext cx="502920" cy="502920"/>
          </a:xfrm>
          <a:prstGeom prst="ellipse">
            <a:avLst/>
          </a:prstGeom>
          <a:solidFill>
            <a:srgbClr val="CADCFC"/>
          </a:solidFill>
          <a:ln/>
        </p:spPr>
      </p:sp>
      <p:sp>
        <p:nvSpPr>
          <p:cNvPr id="16" name="Text 14"/>
          <p:cNvSpPr/>
          <p:nvPr/>
        </p:nvSpPr>
        <p:spPr>
          <a:xfrm>
            <a:off x="548640" y="4526280"/>
            <a:ext cx="502920" cy="502920"/>
          </a:xfrm>
          <a:prstGeom prst="rect">
            <a:avLst/>
          </a:prstGeom>
          <a:noFill/>
          <a:ln/>
        </p:spPr>
        <p:txBody>
          <a:bodyPr wrap="square" lIns="0" tIns="0" rIns="0" bIns="0"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234440" y="4498848"/>
            <a:ext cx="9875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Operationalize the demand forecast into planning cycles</a:t>
            </a:r>
            <a:endParaRPr lang="en-US" sz="1600" dirty="0"/>
          </a:p>
        </p:txBody>
      </p:sp>
      <p:sp>
        <p:nvSpPr>
          <p:cNvPr id="18" name="Text 16"/>
          <p:cNvSpPr/>
          <p:nvPr/>
        </p:nvSpPr>
        <p:spPr>
          <a:xfrm>
            <a:off x="1234440" y="4855464"/>
            <a:ext cx="987552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Feed the 45-day Prophet forecast (5.3% MAPE) directly into procurement and staffing plans, refreshed weekly.</a:t>
            </a:r>
            <a:endParaRPr lang="en-US" sz="1200" dirty="0"/>
          </a:p>
        </p:txBody>
      </p:sp>
      <p:sp>
        <p:nvSpPr>
          <p:cNvPr id="19" name="Text 17"/>
          <p:cNvSpPr/>
          <p:nvPr/>
        </p:nvSpPr>
        <p:spPr>
          <a:xfrm>
            <a:off x="1234440" y="5184648"/>
            <a:ext cx="9875520" cy="502920"/>
          </a:xfrm>
          <a:prstGeom prst="rect">
            <a:avLst/>
          </a:prstGeom>
          <a:noFill/>
          <a:ln/>
        </p:spPr>
        <p:txBody>
          <a:bodyPr wrap="square" lIns="0" tIns="0" rIns="0" bIns="0" rtlCol="0" anchor="ctr"/>
          <a:lstStyle/>
          <a:p>
            <a:pPr indent="0" marL="0">
              <a:lnSpc>
                <a:spcPct val="115000"/>
              </a:lnSpc>
              <a:buNone/>
            </a:pPr>
            <a:r>
              <a:rPr lang="en-US" sz="1150" b="1" dirty="0">
                <a:solidFill>
                  <a:srgbClr val="E07A1F"/>
                </a:solidFill>
                <a:latin typeface="Calibri" pitchFamily="34" charset="0"/>
                <a:ea typeface="Calibri" pitchFamily="34" charset="-122"/>
                <a:cs typeface="Calibri" pitchFamily="34" charset="-120"/>
              </a:rPr>
              <a:t>ROI: </a:t>
            </a:r>
            <a:pPr indent="0" marL="0">
              <a:lnSpc>
                <a:spcPct val="115000"/>
              </a:lnSpc>
              <a:buNone/>
            </a:pPr>
            <a:r>
              <a:rPr lang="en-US" sz="1150" dirty="0">
                <a:solidFill>
                  <a:srgbClr val="D8DFF2"/>
                </a:solidFill>
                <a:latin typeface="Calibri" pitchFamily="34" charset="0"/>
                <a:ea typeface="Calibri" pitchFamily="34" charset="-122"/>
                <a:cs typeface="Calibri" pitchFamily="34" charset="-120"/>
              </a:rPr>
              <a:t>Tighter, evidence-based planning cycles reduce both rush-order premiums and excess-stock write-offs; exact $ impact to be quantified with Finance once per-unit holding/rush-order costs are shared.</a:t>
            </a:r>
            <a:endParaRPr lang="en-US" sz="1150" dirty="0"/>
          </a:p>
        </p:txBody>
      </p:sp>
      <p:sp>
        <p:nvSpPr>
          <p:cNvPr id="20" name="Shape 18"/>
          <p:cNvSpPr/>
          <p:nvPr/>
        </p:nvSpPr>
        <p:spPr>
          <a:xfrm>
            <a:off x="548640" y="6263640"/>
            <a:ext cx="11064240" cy="9144"/>
          </a:xfrm>
          <a:prstGeom prst="rect">
            <a:avLst/>
          </a:prstGeom>
          <a:solidFill>
            <a:srgbClr val="3A4680"/>
          </a:solidFill>
          <a:ln/>
        </p:spPr>
      </p:sp>
      <p:sp>
        <p:nvSpPr>
          <p:cNvPr id="21" name="Text 19"/>
          <p:cNvSpPr/>
          <p:nvPr/>
        </p:nvSpPr>
        <p:spPr>
          <a:xfrm>
            <a:off x="548640" y="6355080"/>
            <a:ext cx="9144000" cy="320040"/>
          </a:xfrm>
          <a:prstGeom prst="rect">
            <a:avLst/>
          </a:prstGeom>
          <a:noFill/>
          <a:ln/>
        </p:spPr>
        <p:txBody>
          <a:bodyPr wrap="square" lIns="0" tIns="0" rIns="0" bIns="0" rtlCol="0" anchor="ctr"/>
          <a:lstStyle/>
          <a:p>
            <a:pPr indent="0" marL="0">
              <a:buNone/>
            </a:pPr>
            <a:r>
              <a:rPr lang="en-US" sz="1000" dirty="0">
                <a:solidFill>
                  <a:srgbClr val="5A6B94"/>
                </a:solidFill>
                <a:latin typeface="Calibri" pitchFamily="34" charset="0"/>
                <a:ea typeface="Calibri" pitchFamily="34" charset="-122"/>
                <a:cs typeface="Calibri" pitchFamily="34" charset="-120"/>
              </a:rPr>
              <a:t>Anticipated Q&amp;A on slide notes  —  contact: marangafinley@gmail.com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2026-08-17T07:07:21Z</dcterms:created>
  <dcterms:modified xsi:type="dcterms:W3CDTF">2026-08-17T07:07:21Z</dcterms:modified>
</cp:coreProperties>
</file>