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Recordable Incidents by Month</a:t>
            </a:r>
          </a:p>
        </c:rich>
      </c:tx>
      <c:layout/>
      <c:overlay val="0"/>
    </c:title>
    <c:autoTitleDeleted val="0"/>
    <c:plotArea>
      <c:layout/>
      <c:barChart>
        <c:barDir val="col"/>
        <c:grouping val="clustered"/>
        <c:varyColors val="0"/>
        <c:ser>
          <c:idx val="0"/>
          <c:order val="0"/>
          <c:tx>
            <c:strRef>
              <c:f>Sheet1!$B$1</c:f>
              <c:strCache>
                <c:ptCount val="1"/>
                <c:pt idx="0">
                  <c:v>Recordable Incidents</c:v>
                </c:pt>
              </c:strCache>
            </c:strRef>
          </c:tx>
          <c:spPr>
            <a:solidFill>
              <a:srgbClr val="1B7F79"/>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Month 1</c:v>
                  </c:pt>
                  <c:pt idx="1">
                    <c:v>Month 2</c:v>
                  </c:pt>
                  <c:pt idx="2">
                    <c:v>Month 3</c:v>
                  </c:pt>
                </c:lvl>
              </c:multiLvlStrCache>
            </c:multiLvlStrRef>
          </c:cat>
          <c:val>
            <c:numRef>
              <c:f>Sheet1!$B$2:$B$4</c:f>
              <c:numCache>
                <c:formatCode>General</c:formatCode>
                <c:ptCount val="3"/>
                <c:pt idx="0">
                  <c:v>2</c:v>
                </c:pt>
                <c:pt idx="1">
                  <c:v>1</c:v>
                </c:pt>
                <c:pt idx="2">
                  <c:v>0</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Fleet Uptime Trend (%)</a:t>
            </a:r>
          </a:p>
        </c:rich>
      </c:tx>
      <c:layout/>
      <c:overlay val="0"/>
    </c:title>
    <c:autoTitleDeleted val="0"/>
    <c:plotArea>
      <c:layout/>
      <c:lineChart>
        <c:varyColors val="0"/>
        <c:ser>
          <c:idx val="0"/>
          <c:order val="0"/>
          <c:tx>
            <c:strRef>
              <c:f>Sheet1!$B$1</c:f>
              <c:strCache>
                <c:ptCount val="1"/>
                <c:pt idx="0">
                  <c:v>Uptime %</c:v>
                </c:pt>
              </c:strCache>
            </c:strRef>
          </c:tx>
          <c:spPr>
            <a:solidFill>
              <a:srgbClr val="1B7F79"/>
            </a:solidFill>
            <a:ln w="31750" cap="flat">
              <a:solidFill>
                <a:srgbClr val="1B7F7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7F79"/>
              </a:solidFill>
              <a:ln w="9525" cap="flat">
                <a:solidFill>
                  <a:srgbClr val="1B7F79"/>
                </a:solidFill>
                <a:prstDash val="solid"/>
                <a:round/>
              </a:ln>
              <a:effectLst/>
            </c:spPr>
          </c:marker>
          <c:cat>
            <c:multiLvlStrRef>
              <c:f>Sheet1!$A$2:$A$9</c:f>
              <c:multiLvlStrCache>
                <c:ptCount val="8"/>
                <c:lvl>
                  <c:pt idx="0">
                    <c:v>Wk1</c:v>
                  </c:pt>
                  <c:pt idx="1">
                    <c:v>Wk2</c:v>
                  </c:pt>
                  <c:pt idx="2">
                    <c:v>Wk3</c:v>
                  </c:pt>
                  <c:pt idx="3">
                    <c:v>Wk4</c:v>
                  </c:pt>
                  <c:pt idx="4">
                    <c:v>Wk5</c:v>
                  </c:pt>
                  <c:pt idx="5">
                    <c:v>Wk6</c:v>
                  </c:pt>
                  <c:pt idx="6">
                    <c:v>Wk7</c:v>
                  </c:pt>
                  <c:pt idx="7">
                    <c:v>Wk8</c:v>
                  </c:pt>
                </c:lvl>
              </c:multiLvlStrCache>
            </c:multiLvlStrRef>
          </c:cat>
          <c:val>
            <c:numRef>
              <c:f>Sheet1!$B$2:$B$9</c:f>
              <c:numCache>
                <c:formatCode>General</c:formatCode>
                <c:ptCount val="8"/>
                <c:pt idx="0">
                  <c:v>90.1</c:v>
                </c:pt>
                <c:pt idx="1">
                  <c:v>90.8</c:v>
                </c:pt>
                <c:pt idx="2">
                  <c:v>91.5</c:v>
                </c:pt>
                <c:pt idx="3">
                  <c:v>91.2</c:v>
                </c:pt>
                <c:pt idx="4">
                  <c:v>92.4</c:v>
                </c:pt>
                <c:pt idx="5">
                  <c:v>93</c:v>
                </c:pt>
                <c:pt idx="6">
                  <c:v>93.6</c:v>
                </c:pt>
                <c:pt idx="7">
                  <c:v>94.2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96"/>
          <c:min val="88"/>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Stock-out Rate: Modeled Replenishment Cycles (%)</a:t>
            </a:r>
          </a:p>
        </c:rich>
      </c:tx>
      <c:layout/>
      <c:overlay val="0"/>
    </c:title>
    <c:autoTitleDeleted val="0"/>
    <c:plotArea>
      <c:layout/>
      <c:barChart>
        <c:barDir val="col"/>
        <c:grouping val="clustered"/>
        <c:varyColors val="0"/>
        <c:ser>
          <c:idx val="0"/>
          <c:order val="0"/>
          <c:tx>
            <c:strRef>
              <c:f>Sheet1!$B$1</c:f>
              <c:strCache>
                <c:ptCount val="1"/>
                <c:pt idx="0">
                  <c:v>Stock-out rate</c:v>
                </c:pt>
              </c:strCache>
            </c:strRef>
          </c:tx>
          <c:spPr>
            <a:solidFill>
              <a:srgbClr val="A637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A6373A"/>
              </a:solidFill>
              <a:effectLst/>
            </c:spPr>
          </c:dPt>
          <c:dPt>
            <c:idx val="1"/>
            <c:invertIfNegative val="0"/>
            <c:bubble3D val="0"/>
            <c:spPr>
              <a:solidFill>
                <a:srgbClr val="1B7F79"/>
              </a:solidFill>
              <a:effectLst/>
            </c:spPr>
          </c:dPt>
          <c:cat>
            <c:multiLvlStrRef>
              <c:f>Sheet1!$A$2:$A$3</c:f>
              <c:multiLvlStrCache>
                <c:ptCount val="2"/>
                <c:lvl>
                  <c:pt idx="0">
                    <c:v>Without Safety Stock</c:v>
                  </c:pt>
                  <c:pt idx="1">
                    <c:v>With Safety Stock</c:v>
                  </c:pt>
                </c:lvl>
              </c:multiLvlStrCache>
            </c:multiLvlStrRef>
          </c:cat>
          <c:val>
            <c:numRef>
              <c:f>Sheet1!$B$2:$B$3</c:f>
              <c:numCache>
                <c:formatCode>General</c:formatCode>
                <c:ptCount val="2"/>
                <c:pt idx="0">
                  <c:v>49.1</c:v>
                </c:pt>
                <c:pt idx="1">
                  <c:v>4.5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Optimal Units Shipped by DC / Region</a:t>
            </a:r>
          </a:p>
        </c:rich>
      </c:tx>
      <c:layout/>
      <c:overlay val="0"/>
    </c:title>
    <c:autoTitleDeleted val="0"/>
    <c:plotArea>
      <c:layout/>
      <c:barChart>
        <c:barDir val="col"/>
        <c:grouping val="stacked"/>
        <c:varyColors val="0"/>
        <c:ser>
          <c:idx val="0"/>
          <c:order val="0"/>
          <c:tx>
            <c:strRef>
              <c:f>Sheet1!$B$1</c:f>
              <c:strCache>
                <c:ptCount val="1"/>
                <c:pt idx="0">
                  <c:v>DC1</c:v>
                </c:pt>
              </c:strCache>
            </c:strRef>
          </c:tx>
          <c:spPr>
            <a:solidFill>
              <a:srgbClr val="1B2A4A"/>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R1</c:v>
                  </c:pt>
                  <c:pt idx="1">
                    <c:v>R2</c:v>
                  </c:pt>
                  <c:pt idx="2">
                    <c:v>R3</c:v>
                  </c:pt>
                  <c:pt idx="3">
                    <c:v>R4</c:v>
                  </c:pt>
                </c:lvl>
              </c:multiLvlStrCache>
            </c:multiLvlStrRef>
          </c:cat>
          <c:val>
            <c:numRef>
              <c:f>Sheet1!$B$2:$B$5</c:f>
              <c:numCache>
                <c:formatCode>General</c:formatCode>
                <c:ptCount val="4"/>
                <c:pt idx="0">
                  <c:v>213</c:v>
                </c:pt>
                <c:pt idx="1">
                  <c:v>152</c:v>
                </c:pt>
                <c:pt idx="2">
                  <c:v>31</c:v>
                </c:pt>
                <c:pt idx="3">
                  <c:v>0</c:v>
                </c:pt>
              </c:numCache>
            </c:numRef>
          </c:val>
        </c:ser>
        <c:ser>
          <c:idx val="1"/>
          <c:order val="1"/>
          <c:tx>
            <c:strRef>
              <c:f>Sheet1!$C$1</c:f>
              <c:strCache>
                <c:ptCount val="1"/>
                <c:pt idx="0">
                  <c:v>DC2</c:v>
                </c:pt>
              </c:strCache>
            </c:strRef>
          </c:tx>
          <c:spPr>
            <a:solidFill>
              <a:srgbClr val="1B7F79"/>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R1</c:v>
                  </c:pt>
                  <c:pt idx="1">
                    <c:v>R2</c:v>
                  </c:pt>
                  <c:pt idx="2">
                    <c:v>R3</c:v>
                  </c:pt>
                  <c:pt idx="3">
                    <c:v>R4</c:v>
                  </c:pt>
                </c:lvl>
              </c:multiLvlStrCache>
            </c:multiLvlStrRef>
          </c:cat>
          <c:val>
            <c:numRef>
              <c:f>Sheet1!$C$2:$C$5</c:f>
              <c:numCache>
                <c:formatCode>General</c:formatCode>
                <c:ptCount val="4"/>
                <c:pt idx="0">
                  <c:v>0</c:v>
                </c:pt>
                <c:pt idx="1">
                  <c:v>0</c:v>
                </c:pt>
                <c:pt idx="2">
                  <c:v>103</c:v>
                </c:pt>
                <c:pt idx="3">
                  <c:v>110</c:v>
                </c:pt>
              </c:numCache>
            </c:numRef>
          </c:val>
        </c:ser>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~60 sec]
Good morning / afternoon, everyone. Thank you for the time. I'm going to keep this tight and lead with the headline, then back it up.
Bottom line up front: operations are in a healthy, improving position. We had zero lost-time safety incidents this quarter and equipment uptime is trending in the right direction — I'll show those numbers in a moment. On the supply chain side, we now have a demand forecasting model accurate to within 4.4% of actual demand, and using that model's error distribution, we've redesigned our inventory buffer so that our expected stock-out rate drops from roughly 1-in-2 replenishment cycles to about 1-in-20 — right at our 95% service-level target.
What I'm asking for today is approval to move this from a pilot analysis into standard operating policy, plus sign-off on a lowest-cost distribution routing model we've validated. Let me walk through the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~60 sec]
Here's the scorecard for the quarter. A quick flag: the Safety and Equipment Uptime figures on this slide are illustrative placeholders standing in for your real Week 6 and Week 7 results — swap those in before you present live; everything on the forecasting and inventory side is real output from this week's analysis.
Walking across: zero lost-time incidents, uptime improving to 94.2%. On forecasting, our model is accurate to 4.4% MAPE on a 45-day holdout — that's tight enough to trust for inventory decisions. And the headline number: modeled stock-out rate goes from about 49% of replenishment cycles down to about 5% once we apply a properly-sized safety stock buffer.
The 'why it matters' side is really the pitch for the rest of this deck: fewer stock-outs protect revenue, a right-sized buffer protects working capital — we're not just piling on inventory — and the distribution optimization directly reduces freight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~45 sec]
Quick recap of safety, since it's the foundation everything else sits on. Recordable incidents trended down across the quarter to zero last month. Our Total Recordable Incident Rate is at 0.8, below the 1.2 industry benchmark we track against. Every incident from earlier in the quarter has a closed-out root-cause corrective action.
One open item I want to flag proactively: we still need to finish pedestrian-forklift zone striping at DC2 — that's on the punch list and I'll cover it as a resourcing ask later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~45 sec]
On equipment, the trend line speaks for itself — fleet uptime has climbed steadily to 94.2%, driven by preventive maintenance compliance now at 96% and unplanned downtime down about 30% versus last quarter. We have two aging conveyor units flagged for FY capital planning rather than continued reactive repair.
I'm including this because it's directly relevant to what's next: the safety-stock and reorder-point math I'm about to show assumes a reasonably reliable lead time. If equipment or fulfillment reliability were degrading, we'd need a bigger buffer — the fact that it's improving is part of why we can be disciplined about not over-stocking.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~90 sec]
Now into the Week 8 work itself. We built a Prophet forecasting model — that's a time-series model that decomposes demand into trend, weekly and yearly seasonality, holiday effects, and here, a promotion regressor we added ourselves.
We didn't just fit it and trust it — we held out the most recent 45 days, trained only on data before that, and checked how well the model predicted demand it had never seen. The result: 4.4% mean absolute percentage error, and an RMSE of about 40 units against average daily demand of roughly 660 units. That's a tight enough error band to base inventory decisions on.
The external factor point is worth dwelling on for a second, since the assignment specifically asked us to justify it: holiday weeks alone shift demand by up to 130 units a day, and planned promotions lift demand 25 to 45%. Feeding the promotion calendar into the model as a regressor means we're not caught flat-footed by demand we actually knew was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~90 sec]
This is the core inventory-optimization result. On the left: we ran 2,000 simulated replenishment cycles using the lead-time demand distribution calibrated from our actual forecast error. Without a safety stock buffer, we'd stock out in about 49% of cycles — essentially a coin flip, because the reorder point only covers average demand, and real demand is sometimes above average. Add a safety stock of 163 units on top of that reorder point, and the stock-out rate drops to about 4.5%, which lines up almost exactly with our 95% target service level.
On the right are the assumptions behind that number, stated explicitly the way the assignment asked: 95% service level, a 7-day lead time we're treating as fixed, and a demand variability figure we deliberately pulled from the forecast's actual error — not a generic historical standard deviation — because that's the number that reflects the real uncertainty we have to plan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~75 sec]
Last piece of the analytics: once we know forecasted regional demand, how do we ship it most cheaply? We modeled two distribution centers feeding four regions, each DC-to-region lane with its own freight cost and each DC with a capacity ceiling, and solved it as a linear program.
The chart shows the optimal routing — you can see the solver naturally serves each region from whichever DC is cheaper to reach it, and only splits a region's demand across both DCs when the cheaper option runs out of capacity, which is exactly the behavior a human planner would want but faster and provably optimal. For this demand snapshot, minimum total shipping cost comes out to $879. The real value here isn't the one number — it's that this is a model we can re-run every single day against the latest forecast and promotion calendar, turning it into a standing planning tool rather than a one-time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~90 sec]
Three concrete asks, each with a rough ROI so we're not just presenting analysis for its own sake.
One: formalize the safety-stock policy we just walked through. It's already calculated, already validated by simulation — this is a decision to adopt it, not a research request. Two: take the distribution optimization model out of this notebook and into a scheduled daily job. Three: extend the same forecasting approach to our top 20 SKUs by revenue, since right now we've proven the method on one item.
I want to be upfront that the ROI figures here are estimates built on reasonable assumptions — unit margin, current freight spend — and I'm happy to have finance validate them line by line before we lock a business case. But directionally, all three are low-cost-to-implement since the modeling work is already done; what we need is the operational green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SEGMENT — build this into your 15 minutes, roughly ~90 sec to 2 min]
Anticipated CFO question: "Why do we need so much safety stock? Isn't that just cash sitting on a shelf?"
Suggested confident answer, in your own words:
"That's exactly the right question to ask, and I'd push back gently on the framing: this isn't a round-number cushion, it's the minimum buffer the math requires at a 95% service level, sized directly from how much our forecast is actually off by. The alternative isn't zero safety stock at zero cost — it's roughly a coin-flip chance of stocking out every replenishment cycle, and a stock-out costs us lost sales and expedited freight, which is a more expensive way to fail than holding 163 units. What I'd also point out is that we deliberately avoided a generic 'three weeks of cover' rule, because that over-buffers predictable items and under-buffers volatile ones — this number is specific to this SKU's real variability. And if the committee wants to trade some risk for lower carrying cost, we can absolutely dial the target down from 95% to, say, 90% — that roughly halves the buffer — and I can bring that sensitivity analysis back next cycle."
Delivery tip: pause after "that's exactly the right question to ask" — don't rush the answer, it should sound prepared, not defensive.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sp>
      <p:sp>
        <p:nvSpPr>
          <p:cNvPr id="3" name="Text 1"/>
          <p:cNvSpPr/>
          <p:nvPr/>
        </p:nvSpPr>
        <p:spPr>
          <a:xfrm>
            <a:off x="731520" y="1463040"/>
            <a:ext cx="1069848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Quarterly Operations Review</a:t>
            </a:r>
            <a:endParaRPr lang="en-US" sz="4000" dirty="0"/>
          </a:p>
        </p:txBody>
      </p:sp>
      <p:sp>
        <p:nvSpPr>
          <p:cNvPr id="4" name="Text 2"/>
          <p:cNvSpPr/>
          <p:nvPr/>
        </p:nvSpPr>
        <p:spPr>
          <a:xfrm>
            <a:off x="731520" y="2331720"/>
            <a:ext cx="10698480" cy="457200"/>
          </a:xfrm>
          <a:prstGeom prst="rect">
            <a:avLst/>
          </a:prstGeom>
          <a:noFill/>
          <a:ln/>
        </p:spPr>
        <p:txBody>
          <a:bodyPr wrap="square" rtlCol="0" anchor="ctr"/>
          <a:lstStyle/>
          <a:p>
            <a:pPr indent="0" marL="0">
              <a:buNone/>
            </a:pPr>
            <a:r>
              <a:rPr lang="en-US" sz="1800" dirty="0">
                <a:solidFill>
                  <a:srgbClr val="C7D0E0"/>
                </a:solidFill>
                <a:latin typeface="Calibri" pitchFamily="34" charset="0"/>
                <a:ea typeface="Calibri" pitchFamily="34" charset="-122"/>
                <a:cs typeface="Calibri" pitchFamily="34" charset="-120"/>
              </a:rPr>
              <a:t>Safety • Equipment Health • Supply Chain Performance</a:t>
            </a:r>
            <a:endParaRPr lang="en-US" sz="1800" dirty="0"/>
          </a:p>
        </p:txBody>
      </p:sp>
      <p:sp>
        <p:nvSpPr>
          <p:cNvPr id="5" name="Text 3"/>
          <p:cNvSpPr/>
          <p:nvPr/>
        </p:nvSpPr>
        <p:spPr>
          <a:xfrm>
            <a:off x="731520" y="3108960"/>
            <a:ext cx="10698480" cy="365760"/>
          </a:xfrm>
          <a:prstGeom prst="rect">
            <a:avLst/>
          </a:prstGeom>
          <a:noFill/>
          <a:ln/>
        </p:spPr>
        <p:txBody>
          <a:bodyPr wrap="square" rtlCol="0" anchor="ctr"/>
          <a:lstStyle/>
          <a:p>
            <a:pPr indent="0" marL="0">
              <a:buNone/>
            </a:pPr>
            <a:r>
              <a:rPr lang="en-US" sz="1400" b="1" spc="200" kern="0" dirty="0">
                <a:solidFill>
                  <a:srgbClr val="1B7F79"/>
                </a:solidFill>
                <a:latin typeface="Calibri" pitchFamily="34" charset="0"/>
                <a:ea typeface="Calibri" pitchFamily="34" charset="-122"/>
                <a:cs typeface="Calibri" pitchFamily="34" charset="-120"/>
              </a:rPr>
              <a:t>BOTTOM LINE UP FRONT</a:t>
            </a:r>
            <a:endParaRPr lang="en-US" sz="1400" dirty="0"/>
          </a:p>
        </p:txBody>
      </p:sp>
      <p:sp>
        <p:nvSpPr>
          <p:cNvPr id="6" name="Text 4"/>
          <p:cNvSpPr/>
          <p:nvPr/>
        </p:nvSpPr>
        <p:spPr>
          <a:xfrm>
            <a:off x="731520" y="3520440"/>
            <a:ext cx="10515600" cy="2651760"/>
          </a:xfrm>
          <a:prstGeom prst="rect">
            <a:avLst/>
          </a:prstGeom>
          <a:noFill/>
          <a:ln/>
        </p:spPr>
        <p:txBody>
          <a:bodyPr wrap="square" rtlCol="0" anchor="ctr"/>
          <a:lstStyle/>
          <a:p>
            <a:pPr marL="342900" indent="-342900">
              <a:lnSpc>
                <a:spcPts val="2400"/>
              </a:lnSpc>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Operations are stable and improving: zero lost-time safety incidents this quarter, equipment uptime trending up.</a:t>
            </a:r>
            <a:endParaRPr lang="en-US" sz="1600" dirty="0"/>
          </a:p>
          <a:p>
            <a:pPr marL="342900" indent="-342900">
              <a:lnSpc>
                <a:spcPts val="2400"/>
              </a:lnSpc>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Demand forecast accuracy reached 4.4% MAPE (Prophet model) — accurate enough to safely right-size inventory.</a:t>
            </a:r>
            <a:endParaRPr lang="en-US" sz="1600" dirty="0"/>
          </a:p>
          <a:p>
            <a:pPr marL="342900" indent="-342900">
              <a:lnSpc>
                <a:spcPts val="2400"/>
              </a:lnSpc>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Adding a data-driven safety-stock policy cuts our modeled stock-out rate from ~49% to ~5% of replenishment cycles.</a:t>
            </a:r>
            <a:endParaRPr lang="en-US" sz="1600" dirty="0"/>
          </a:p>
          <a:p>
            <a:pPr marL="342900" indent="-342900">
              <a:lnSpc>
                <a:spcPts val="2400"/>
              </a:lnSpc>
              <a:buSzPct val="100000"/>
              <a:buChar char="•"/>
            </a:pPr>
            <a:r>
              <a:rPr lang="en-US" sz="1600" dirty="0">
                <a:solidFill>
                  <a:srgbClr val="FFFFFF"/>
                </a:solidFill>
                <a:latin typeface="Calibri" pitchFamily="34" charset="0"/>
                <a:ea typeface="Calibri" pitchFamily="34" charset="-122"/>
                <a:cs typeface="Calibri" pitchFamily="34" charset="-120"/>
              </a:rPr>
              <a:t>Asking today: approval to formalize the (s, Q) inventory policy and the least-cost distribution plan into standard practice.</a:t>
            </a:r>
            <a:endParaRPr lang="en-US" sz="1600" dirty="0"/>
          </a:p>
        </p:txBody>
      </p:sp>
      <p:sp>
        <p:nvSpPr>
          <p:cNvPr id="8" name="Text 5"/>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a:t>
            </a:r>
            <a:endParaRPr lang="en-US" sz="1000" dirty="0"/>
          </a:p>
        </p:txBody>
      </p:sp>
      <p:sp>
        <p:nvSpPr>
          <p:cNvPr id="9" name="Text 6"/>
          <p:cNvSpPr/>
          <p:nvPr/>
        </p:nvSpPr>
        <p:spPr>
          <a:xfrm>
            <a:off x="7159752" y="6510528"/>
            <a:ext cx="45720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Quarterly Operations Review — 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Executive Summary — Quarter at a Glance</a:t>
            </a:r>
            <a:endParaRPr lang="en-US" sz="3000" dirty="0"/>
          </a:p>
        </p:txBody>
      </p:sp>
      <p:sp>
        <p:nvSpPr>
          <p:cNvPr id="3" name="Text 1"/>
          <p:cNvSpPr/>
          <p:nvPr/>
        </p:nvSpPr>
        <p:spPr>
          <a:xfrm>
            <a:off x="548640" y="1143000"/>
            <a:ext cx="1106424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Illustrative example figures — replace Safety &amp; Equipment cells with your actual Week 6–7 results before presenting.</a:t>
            </a:r>
            <a:endParaRPr lang="en-US" sz="1100" dirty="0"/>
          </a:p>
        </p:txBody>
      </p:sp>
      <p:sp>
        <p:nvSpPr>
          <p:cNvPr id="4" name="Shape 2"/>
          <p:cNvSpPr/>
          <p:nvPr/>
        </p:nvSpPr>
        <p:spPr>
          <a:xfrm>
            <a:off x="548640" y="1691640"/>
            <a:ext cx="2606040" cy="1920240"/>
          </a:xfrm>
          <a:prstGeom prst="roundRect">
            <a:avLst>
              <a:gd name="adj" fmla="val 5714"/>
            </a:avLst>
          </a:prstGeom>
          <a:solidFill>
            <a:srgbClr val="F2F4F7"/>
          </a:solidFill>
          <a:ln/>
        </p:spPr>
      </p:sp>
      <p:sp>
        <p:nvSpPr>
          <p:cNvPr id="5" name="Text 3"/>
          <p:cNvSpPr/>
          <p:nvPr/>
        </p:nvSpPr>
        <p:spPr>
          <a:xfrm>
            <a:off x="731520" y="1874520"/>
            <a:ext cx="2240280" cy="320040"/>
          </a:xfrm>
          <a:prstGeom prst="rect">
            <a:avLst/>
          </a:prstGeom>
          <a:noFill/>
          <a:ln/>
        </p:spPr>
        <p:txBody>
          <a:bodyPr wrap="square"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SAFETY</a:t>
            </a:r>
            <a:endParaRPr lang="en-US" sz="1100" dirty="0"/>
          </a:p>
        </p:txBody>
      </p:sp>
      <p:sp>
        <p:nvSpPr>
          <p:cNvPr id="6" name="Text 4"/>
          <p:cNvSpPr/>
          <p:nvPr/>
        </p:nvSpPr>
        <p:spPr>
          <a:xfrm>
            <a:off x="731520" y="2194560"/>
            <a:ext cx="2240280" cy="777240"/>
          </a:xfrm>
          <a:prstGeom prst="rect">
            <a:avLst/>
          </a:prstGeom>
          <a:noFill/>
          <a:ln/>
        </p:spPr>
        <p:txBody>
          <a:bodyPr wrap="square" rtlCol="0" anchor="ctr"/>
          <a:lstStyle/>
          <a:p>
            <a:pPr indent="0" marL="0">
              <a:buNone/>
            </a:pPr>
            <a:r>
              <a:rPr lang="en-US" sz="2800" b="1" dirty="0">
                <a:solidFill>
                  <a:srgbClr val="1B7F79"/>
                </a:solidFill>
                <a:latin typeface="Calibri" pitchFamily="34" charset="0"/>
                <a:ea typeface="Calibri" pitchFamily="34" charset="-122"/>
                <a:cs typeface="Calibri" pitchFamily="34" charset="-120"/>
              </a:rPr>
              <a:t>0</a:t>
            </a:r>
            <a:endParaRPr lang="en-US" sz="2800" dirty="0"/>
          </a:p>
        </p:txBody>
      </p:sp>
      <p:sp>
        <p:nvSpPr>
          <p:cNvPr id="7" name="Text 5"/>
          <p:cNvSpPr/>
          <p:nvPr/>
        </p:nvSpPr>
        <p:spPr>
          <a:xfrm>
            <a:off x="731520" y="3017520"/>
            <a:ext cx="2240280" cy="5029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Lost-time incidents (QTD)</a:t>
            </a:r>
            <a:endParaRPr lang="en-US" sz="1100" dirty="0"/>
          </a:p>
        </p:txBody>
      </p:sp>
      <p:sp>
        <p:nvSpPr>
          <p:cNvPr id="8" name="Shape 6"/>
          <p:cNvSpPr/>
          <p:nvPr/>
        </p:nvSpPr>
        <p:spPr>
          <a:xfrm>
            <a:off x="3383280" y="1691640"/>
            <a:ext cx="2606040" cy="1920240"/>
          </a:xfrm>
          <a:prstGeom prst="roundRect">
            <a:avLst>
              <a:gd name="adj" fmla="val 5714"/>
            </a:avLst>
          </a:prstGeom>
          <a:solidFill>
            <a:srgbClr val="F2F4F7"/>
          </a:solidFill>
          <a:ln/>
        </p:spPr>
      </p:sp>
      <p:sp>
        <p:nvSpPr>
          <p:cNvPr id="9" name="Text 7"/>
          <p:cNvSpPr/>
          <p:nvPr/>
        </p:nvSpPr>
        <p:spPr>
          <a:xfrm>
            <a:off x="3566160" y="1874520"/>
            <a:ext cx="2240280" cy="320040"/>
          </a:xfrm>
          <a:prstGeom prst="rect">
            <a:avLst/>
          </a:prstGeom>
          <a:noFill/>
          <a:ln/>
        </p:spPr>
        <p:txBody>
          <a:bodyPr wrap="square"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EQUIPMENT UPTIME</a:t>
            </a:r>
            <a:endParaRPr lang="en-US" sz="1100" dirty="0"/>
          </a:p>
        </p:txBody>
      </p:sp>
      <p:sp>
        <p:nvSpPr>
          <p:cNvPr id="10" name="Text 8"/>
          <p:cNvSpPr/>
          <p:nvPr/>
        </p:nvSpPr>
        <p:spPr>
          <a:xfrm>
            <a:off x="3566160" y="2194560"/>
            <a:ext cx="2240280" cy="777240"/>
          </a:xfrm>
          <a:prstGeom prst="rect">
            <a:avLst/>
          </a:prstGeom>
          <a:noFill/>
          <a:ln/>
        </p:spPr>
        <p:txBody>
          <a:bodyPr wrap="square" rtlCol="0" anchor="ctr"/>
          <a:lstStyle/>
          <a:p>
            <a:pPr indent="0" marL="0">
              <a:buNone/>
            </a:pPr>
            <a:r>
              <a:rPr lang="en-US" sz="2800" b="1" dirty="0">
                <a:solidFill>
                  <a:srgbClr val="1B7F79"/>
                </a:solidFill>
                <a:latin typeface="Calibri" pitchFamily="34" charset="0"/>
                <a:ea typeface="Calibri" pitchFamily="34" charset="-122"/>
                <a:cs typeface="Calibri" pitchFamily="34" charset="-120"/>
              </a:rPr>
              <a:t>94.2%</a:t>
            </a:r>
            <a:endParaRPr lang="en-US" sz="2800" dirty="0"/>
          </a:p>
        </p:txBody>
      </p:sp>
      <p:sp>
        <p:nvSpPr>
          <p:cNvPr id="11" name="Text 9"/>
          <p:cNvSpPr/>
          <p:nvPr/>
        </p:nvSpPr>
        <p:spPr>
          <a:xfrm>
            <a:off x="3566160" y="3017520"/>
            <a:ext cx="2240280" cy="5029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vs 91.5% last quarter</a:t>
            </a:r>
            <a:endParaRPr lang="en-US" sz="1100" dirty="0"/>
          </a:p>
        </p:txBody>
      </p:sp>
      <p:sp>
        <p:nvSpPr>
          <p:cNvPr id="12" name="Shape 10"/>
          <p:cNvSpPr/>
          <p:nvPr/>
        </p:nvSpPr>
        <p:spPr>
          <a:xfrm>
            <a:off x="6217920" y="1691640"/>
            <a:ext cx="2606040" cy="1920240"/>
          </a:xfrm>
          <a:prstGeom prst="roundRect">
            <a:avLst>
              <a:gd name="adj" fmla="val 5714"/>
            </a:avLst>
          </a:prstGeom>
          <a:solidFill>
            <a:srgbClr val="F2F4F7"/>
          </a:solidFill>
          <a:ln/>
        </p:spPr>
      </p:sp>
      <p:sp>
        <p:nvSpPr>
          <p:cNvPr id="13" name="Text 11"/>
          <p:cNvSpPr/>
          <p:nvPr/>
        </p:nvSpPr>
        <p:spPr>
          <a:xfrm>
            <a:off x="6400800" y="1874520"/>
            <a:ext cx="2240280" cy="320040"/>
          </a:xfrm>
          <a:prstGeom prst="rect">
            <a:avLst/>
          </a:prstGeom>
          <a:noFill/>
          <a:ln/>
        </p:spPr>
        <p:txBody>
          <a:bodyPr wrap="square"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FORECAST ACCURACY</a:t>
            </a:r>
            <a:endParaRPr lang="en-US" sz="1100" dirty="0"/>
          </a:p>
        </p:txBody>
      </p:sp>
      <p:sp>
        <p:nvSpPr>
          <p:cNvPr id="14" name="Text 12"/>
          <p:cNvSpPr/>
          <p:nvPr/>
        </p:nvSpPr>
        <p:spPr>
          <a:xfrm>
            <a:off x="6400800" y="2194560"/>
            <a:ext cx="2240280" cy="777240"/>
          </a:xfrm>
          <a:prstGeom prst="rect">
            <a:avLst/>
          </a:prstGeom>
          <a:noFill/>
          <a:ln/>
        </p:spPr>
        <p:txBody>
          <a:bodyPr wrap="square" rtlCol="0" anchor="ctr"/>
          <a:lstStyle/>
          <a:p>
            <a:pPr indent="0" marL="0">
              <a:buNone/>
            </a:pPr>
            <a:r>
              <a:rPr lang="en-US" sz="2800" b="1" dirty="0">
                <a:solidFill>
                  <a:srgbClr val="1B2A4A"/>
                </a:solidFill>
                <a:latin typeface="Calibri" pitchFamily="34" charset="0"/>
                <a:ea typeface="Calibri" pitchFamily="34" charset="-122"/>
                <a:cs typeface="Calibri" pitchFamily="34" charset="-120"/>
              </a:rPr>
              <a:t>4.4%</a:t>
            </a:r>
            <a:endParaRPr lang="en-US" sz="2800" dirty="0"/>
          </a:p>
        </p:txBody>
      </p:sp>
      <p:sp>
        <p:nvSpPr>
          <p:cNvPr id="15" name="Text 13"/>
          <p:cNvSpPr/>
          <p:nvPr/>
        </p:nvSpPr>
        <p:spPr>
          <a:xfrm>
            <a:off x="6400800" y="3017520"/>
            <a:ext cx="2240280" cy="5029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MAPE, 45-day backtest</a:t>
            </a:r>
            <a:endParaRPr lang="en-US" sz="1100" dirty="0"/>
          </a:p>
        </p:txBody>
      </p:sp>
      <p:sp>
        <p:nvSpPr>
          <p:cNvPr id="16" name="Shape 14"/>
          <p:cNvSpPr/>
          <p:nvPr/>
        </p:nvSpPr>
        <p:spPr>
          <a:xfrm>
            <a:off x="9052560" y="1691640"/>
            <a:ext cx="2606040" cy="1920240"/>
          </a:xfrm>
          <a:prstGeom prst="roundRect">
            <a:avLst>
              <a:gd name="adj" fmla="val 5714"/>
            </a:avLst>
          </a:prstGeom>
          <a:solidFill>
            <a:srgbClr val="F2F4F7"/>
          </a:solidFill>
          <a:ln/>
        </p:spPr>
      </p:sp>
      <p:sp>
        <p:nvSpPr>
          <p:cNvPr id="17" name="Text 15"/>
          <p:cNvSpPr/>
          <p:nvPr/>
        </p:nvSpPr>
        <p:spPr>
          <a:xfrm>
            <a:off x="9235440" y="1874520"/>
            <a:ext cx="2240280" cy="320040"/>
          </a:xfrm>
          <a:prstGeom prst="rect">
            <a:avLst/>
          </a:prstGeom>
          <a:noFill/>
          <a:ln/>
        </p:spPr>
        <p:txBody>
          <a:bodyPr wrap="square"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STOCK-OUT RATE</a:t>
            </a:r>
            <a:endParaRPr lang="en-US" sz="1100" dirty="0"/>
          </a:p>
        </p:txBody>
      </p:sp>
      <p:sp>
        <p:nvSpPr>
          <p:cNvPr id="18" name="Text 16"/>
          <p:cNvSpPr/>
          <p:nvPr/>
        </p:nvSpPr>
        <p:spPr>
          <a:xfrm>
            <a:off x="9235440" y="2194560"/>
            <a:ext cx="2240280" cy="777240"/>
          </a:xfrm>
          <a:prstGeom prst="rect">
            <a:avLst/>
          </a:prstGeom>
          <a:noFill/>
          <a:ln/>
        </p:spPr>
        <p:txBody>
          <a:bodyPr wrap="square" rtlCol="0" anchor="ctr"/>
          <a:lstStyle/>
          <a:p>
            <a:pPr indent="0" marL="0">
              <a:buNone/>
            </a:pPr>
            <a:r>
              <a:rPr lang="en-US" sz="2800" b="1" dirty="0">
                <a:solidFill>
                  <a:srgbClr val="C97A2B"/>
                </a:solidFill>
                <a:latin typeface="Calibri" pitchFamily="34" charset="0"/>
                <a:ea typeface="Calibri" pitchFamily="34" charset="-122"/>
                <a:cs typeface="Calibri" pitchFamily="34" charset="-120"/>
              </a:rPr>
              <a:t>49% → 5%</a:t>
            </a:r>
            <a:endParaRPr lang="en-US" sz="2800" dirty="0"/>
          </a:p>
        </p:txBody>
      </p:sp>
      <p:sp>
        <p:nvSpPr>
          <p:cNvPr id="19" name="Text 17"/>
          <p:cNvSpPr/>
          <p:nvPr/>
        </p:nvSpPr>
        <p:spPr>
          <a:xfrm>
            <a:off x="9235440" y="3017520"/>
            <a:ext cx="2240280" cy="5029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Without vs with safety stock</a:t>
            </a:r>
            <a:endParaRPr lang="en-US" sz="1100" dirty="0"/>
          </a:p>
        </p:txBody>
      </p:sp>
      <p:sp>
        <p:nvSpPr>
          <p:cNvPr id="20" name="Text 18"/>
          <p:cNvSpPr/>
          <p:nvPr/>
        </p:nvSpPr>
        <p:spPr>
          <a:xfrm>
            <a:off x="548640" y="3886200"/>
            <a:ext cx="548640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What changed this quarter</a:t>
            </a:r>
            <a:endParaRPr lang="en-US" sz="1600" dirty="0"/>
          </a:p>
        </p:txBody>
      </p:sp>
      <p:sp>
        <p:nvSpPr>
          <p:cNvPr id="21" name="Text 19"/>
          <p:cNvSpPr/>
          <p:nvPr/>
        </p:nvSpPr>
        <p:spPr>
          <a:xfrm>
            <a:off x="548640" y="4251960"/>
            <a:ext cx="5486400" cy="1554480"/>
          </a:xfrm>
          <a:prstGeom prst="rect">
            <a:avLst/>
          </a:prstGeom>
          <a:noFill/>
          <a:ln/>
        </p:spPr>
        <p:txBody>
          <a:bodyPr wrap="square" rtlCol="0" anchor="ctr"/>
          <a:lstStyle/>
          <a:p>
            <a:pPr marL="342900" indent="-342900">
              <a:lnSpc>
                <a:spcPts val="1900"/>
              </a:lnSpc>
              <a:spcAft>
                <a:spcPts val="600"/>
              </a:spcAft>
              <a:buSzPct val="100000"/>
              <a:buChar char="•"/>
            </a:pPr>
            <a:r>
              <a:rPr lang="en-US" sz="1300" dirty="0">
                <a:solidFill>
                  <a:srgbClr val="1B2130"/>
                </a:solidFill>
                <a:latin typeface="Calibri" pitchFamily="34" charset="0"/>
                <a:ea typeface="Calibri" pitchFamily="34" charset="-122"/>
                <a:cs typeface="Calibri" pitchFamily="34" charset="-120"/>
              </a:rPr>
              <a:t>Rebuilt demand forecast on Prophet with holiday + promotion effects</a:t>
            </a:r>
            <a:endParaRPr lang="en-US" sz="1300" dirty="0"/>
          </a:p>
          <a:p>
            <a:pPr marL="342900" indent="-342900">
              <a:lnSpc>
                <a:spcPts val="1900"/>
              </a:lnSpc>
              <a:spcAft>
                <a:spcPts val="600"/>
              </a:spcAft>
              <a:buSzPct val="100000"/>
              <a:buChar char="•"/>
            </a:pPr>
            <a:r>
              <a:rPr lang="en-US" sz="1300" dirty="0">
                <a:solidFill>
                  <a:srgbClr val="1B2130"/>
                </a:solidFill>
                <a:latin typeface="Calibri" pitchFamily="34" charset="0"/>
                <a:ea typeface="Calibri" pitchFamily="34" charset="-122"/>
                <a:cs typeface="Calibri" pitchFamily="34" charset="-120"/>
              </a:rPr>
              <a:t>Re-derived safety stock from actual forecast error, not gut-feel buffers</a:t>
            </a:r>
            <a:endParaRPr lang="en-US" sz="1300" dirty="0"/>
          </a:p>
          <a:p>
            <a:pPr marL="342900" indent="-342900">
              <a:lnSpc>
                <a:spcPts val="1900"/>
              </a:lnSpc>
              <a:buSzPct val="100000"/>
              <a:buChar char="•"/>
            </a:pPr>
            <a:r>
              <a:rPr lang="en-US" sz="1300" dirty="0">
                <a:solidFill>
                  <a:srgbClr val="1B2130"/>
                </a:solidFill>
                <a:latin typeface="Calibri" pitchFamily="34" charset="0"/>
                <a:ea typeface="Calibri" pitchFamily="34" charset="-122"/>
                <a:cs typeface="Calibri" pitchFamily="34" charset="-120"/>
              </a:rPr>
              <a:t>Solved a least-cost distribution plan across 2 DCs / 4 regions</a:t>
            </a:r>
            <a:endParaRPr lang="en-US" sz="1300" dirty="0"/>
          </a:p>
        </p:txBody>
      </p:sp>
      <p:sp>
        <p:nvSpPr>
          <p:cNvPr id="22" name="Text 20"/>
          <p:cNvSpPr/>
          <p:nvPr/>
        </p:nvSpPr>
        <p:spPr>
          <a:xfrm>
            <a:off x="6400800" y="3886200"/>
            <a:ext cx="521208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Why it matters to the business</a:t>
            </a:r>
            <a:endParaRPr lang="en-US" sz="1600" dirty="0"/>
          </a:p>
        </p:txBody>
      </p:sp>
      <p:sp>
        <p:nvSpPr>
          <p:cNvPr id="23" name="Text 21"/>
          <p:cNvSpPr/>
          <p:nvPr/>
        </p:nvSpPr>
        <p:spPr>
          <a:xfrm>
            <a:off x="6400800" y="4251960"/>
            <a:ext cx="5212080" cy="1554480"/>
          </a:xfrm>
          <a:prstGeom prst="rect">
            <a:avLst/>
          </a:prstGeom>
          <a:noFill/>
          <a:ln/>
        </p:spPr>
        <p:txBody>
          <a:bodyPr wrap="square" rtlCol="0" anchor="ctr"/>
          <a:lstStyle/>
          <a:p>
            <a:pPr marL="342900" indent="-342900">
              <a:lnSpc>
                <a:spcPts val="1900"/>
              </a:lnSpc>
              <a:spcAft>
                <a:spcPts val="600"/>
              </a:spcAft>
              <a:buSzPct val="100000"/>
              <a:buChar char="•"/>
            </a:pPr>
            <a:r>
              <a:rPr lang="en-US" sz="1300" dirty="0">
                <a:solidFill>
                  <a:srgbClr val="1B2130"/>
                </a:solidFill>
                <a:latin typeface="Calibri" pitchFamily="34" charset="0"/>
                <a:ea typeface="Calibri" pitchFamily="34" charset="-122"/>
                <a:cs typeface="Calibri" pitchFamily="34" charset="-120"/>
              </a:rPr>
              <a:t>Fewer stock-outs protects revenue and customer trust</a:t>
            </a:r>
            <a:endParaRPr lang="en-US" sz="1300" dirty="0"/>
          </a:p>
          <a:p>
            <a:pPr marL="342900" indent="-342900">
              <a:lnSpc>
                <a:spcPts val="1900"/>
              </a:lnSpc>
              <a:spcAft>
                <a:spcPts val="600"/>
              </a:spcAft>
              <a:buSzPct val="100000"/>
              <a:buChar char="•"/>
            </a:pPr>
            <a:r>
              <a:rPr lang="en-US" sz="1300" dirty="0">
                <a:solidFill>
                  <a:srgbClr val="1B2130"/>
                </a:solidFill>
                <a:latin typeface="Calibri" pitchFamily="34" charset="0"/>
                <a:ea typeface="Calibri" pitchFamily="34" charset="-122"/>
                <a:cs typeface="Calibri" pitchFamily="34" charset="-120"/>
              </a:rPr>
              <a:t>Right-sized (not oversized) buffers control working capital</a:t>
            </a:r>
            <a:endParaRPr lang="en-US" sz="1300" dirty="0"/>
          </a:p>
          <a:p>
            <a:pPr marL="342900" indent="-342900">
              <a:lnSpc>
                <a:spcPts val="1900"/>
              </a:lnSpc>
              <a:buSzPct val="100000"/>
              <a:buChar char="•"/>
            </a:pPr>
            <a:r>
              <a:rPr lang="en-US" sz="1300" dirty="0">
                <a:solidFill>
                  <a:srgbClr val="1B2130"/>
                </a:solidFill>
                <a:latin typeface="Calibri" pitchFamily="34" charset="0"/>
                <a:ea typeface="Calibri" pitchFamily="34" charset="-122"/>
                <a:cs typeface="Calibri" pitchFamily="34" charset="-120"/>
              </a:rPr>
              <a:t>Lower-cost routing directly improves gross margin</a:t>
            </a:r>
            <a:endParaRPr lang="en-US" sz="1300" dirty="0"/>
          </a:p>
        </p:txBody>
      </p:sp>
      <p:sp>
        <p:nvSpPr>
          <p:cNvPr id="25" name="Text 22"/>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26" name="Text 23"/>
          <p:cNvSpPr/>
          <p:nvPr/>
        </p:nvSpPr>
        <p:spPr>
          <a:xfrm>
            <a:off x="7159752" y="6510528"/>
            <a:ext cx="45720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Quarterly Operations Review — Confidential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Safety Performance — Recap (Week 6)</a:t>
            </a:r>
            <a:endParaRPr lang="en-US" sz="3000" dirty="0"/>
          </a:p>
        </p:txBody>
      </p:sp>
      <p:sp>
        <p:nvSpPr>
          <p:cNvPr id="3" name="Text 1"/>
          <p:cNvSpPr/>
          <p:nvPr/>
        </p:nvSpPr>
        <p:spPr>
          <a:xfrm>
            <a:off x="548640" y="1143000"/>
            <a:ext cx="1106424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Illustrative example figures — replace with your actual Week 6 findings.</a:t>
            </a:r>
            <a:endParaRPr lang="en-US" sz="1100" dirty="0"/>
          </a:p>
        </p:txBody>
      </p:sp>
      <p:graphicFrame>
        <p:nvGraphicFramePr>
          <p:cNvPr id="4" name="Chart 0" descr=""/>
          <p:cNvGraphicFramePr/>
          <p:nvPr/>
        </p:nvGraphicFramePr>
        <p:xfrm>
          <a:off x="548640" y="1554480"/>
          <a:ext cx="548640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309360" y="1554480"/>
            <a:ext cx="530352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Key takeaways</a:t>
            </a:r>
            <a:endParaRPr lang="en-US" sz="1600" dirty="0"/>
          </a:p>
        </p:txBody>
      </p:sp>
      <p:sp>
        <p:nvSpPr>
          <p:cNvPr id="6" name="Text 3"/>
          <p:cNvSpPr/>
          <p:nvPr/>
        </p:nvSpPr>
        <p:spPr>
          <a:xfrm>
            <a:off x="6309360" y="1965960"/>
            <a:ext cx="5303520" cy="2560320"/>
          </a:xfrm>
          <a:prstGeom prst="rect">
            <a:avLst/>
          </a:prstGeom>
          <a:noFill/>
          <a:ln/>
        </p:spPr>
        <p:txBody>
          <a:bodyPr wrap="square" rtlCol="0" anchor="ctr"/>
          <a:lstStyle/>
          <a:p>
            <a:pPr marL="342900" indent="-342900">
              <a:lnSpc>
                <a:spcPts val="2200"/>
              </a:lnSpc>
              <a:spcAft>
                <a:spcPts val="800"/>
              </a:spcAft>
              <a:buSzPct val="100000"/>
              <a:buChar char="•"/>
            </a:pPr>
            <a:r>
              <a:rPr lang="en-US" sz="1400" dirty="0">
                <a:solidFill>
                  <a:srgbClr val="1B2130"/>
                </a:solidFill>
                <a:latin typeface="Calibri" pitchFamily="34" charset="0"/>
                <a:ea typeface="Calibri" pitchFamily="34" charset="-122"/>
                <a:cs typeface="Calibri" pitchFamily="34" charset="-120"/>
              </a:rPr>
              <a:t>TRIR down to 0.8, below the 1.2 industry benchmark</a:t>
            </a:r>
            <a:endParaRPr lang="en-US" sz="1400" dirty="0"/>
          </a:p>
          <a:p>
            <a:pPr marL="342900" indent="-342900">
              <a:lnSpc>
                <a:spcPts val="2200"/>
              </a:lnSpc>
              <a:spcAft>
                <a:spcPts val="800"/>
              </a:spcAft>
              <a:buSzPct val="100000"/>
              <a:buChar char="•"/>
            </a:pPr>
            <a:r>
              <a:rPr lang="en-US" sz="1400" dirty="0">
                <a:solidFill>
                  <a:srgbClr val="1B2130"/>
                </a:solidFill>
                <a:latin typeface="Calibri" pitchFamily="34" charset="0"/>
                <a:ea typeface="Calibri" pitchFamily="34" charset="-122"/>
                <a:cs typeface="Calibri" pitchFamily="34" charset="-120"/>
              </a:rPr>
              <a:t>100% completion on near-miss reporting training</a:t>
            </a:r>
            <a:endParaRPr lang="en-US" sz="1400" dirty="0"/>
          </a:p>
          <a:p>
            <a:pPr marL="342900" indent="-342900">
              <a:lnSpc>
                <a:spcPts val="2200"/>
              </a:lnSpc>
              <a:spcAft>
                <a:spcPts val="800"/>
              </a:spcAft>
              <a:buSzPct val="100000"/>
              <a:buChar char="•"/>
            </a:pPr>
            <a:r>
              <a:rPr lang="en-US" sz="1400" dirty="0">
                <a:solidFill>
                  <a:srgbClr val="1B2130"/>
                </a:solidFill>
                <a:latin typeface="Calibri" pitchFamily="34" charset="0"/>
                <a:ea typeface="Calibri" pitchFamily="34" charset="-122"/>
                <a:cs typeface="Calibri" pitchFamily="34" charset="-120"/>
              </a:rPr>
              <a:t>Root-cause fixes closed for all Q incidents</a:t>
            </a:r>
            <a:endParaRPr lang="en-US" sz="1400" dirty="0"/>
          </a:p>
          <a:p>
            <a:pPr marL="342900" indent="-342900">
              <a:lnSpc>
                <a:spcPts val="2200"/>
              </a:lnSpc>
              <a:buSzPct val="100000"/>
              <a:buChar char="•"/>
            </a:pPr>
            <a:r>
              <a:rPr lang="en-US" sz="1400" dirty="0">
                <a:solidFill>
                  <a:srgbClr val="1B2130"/>
                </a:solidFill>
                <a:latin typeface="Calibri" pitchFamily="34" charset="0"/>
                <a:ea typeface="Calibri" pitchFamily="34" charset="-122"/>
                <a:cs typeface="Calibri" pitchFamily="34" charset="-120"/>
              </a:rPr>
              <a:t>Open item: forklift-pedestrian zone striping at DC2</a:t>
            </a:r>
            <a:endParaRPr lang="en-US" sz="1400" dirty="0"/>
          </a:p>
        </p:txBody>
      </p:sp>
      <p:sp>
        <p:nvSpPr>
          <p:cNvPr id="8" name="Text 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9" name="Text 5"/>
          <p:cNvSpPr/>
          <p:nvPr/>
        </p:nvSpPr>
        <p:spPr>
          <a:xfrm>
            <a:off x="7159752" y="6510528"/>
            <a:ext cx="45720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Quarterly Operations Review — Confidential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Equipment Health — Recap (Week 7)</a:t>
            </a:r>
            <a:endParaRPr lang="en-US" sz="3000" dirty="0"/>
          </a:p>
        </p:txBody>
      </p:sp>
      <p:sp>
        <p:nvSpPr>
          <p:cNvPr id="3" name="Text 1"/>
          <p:cNvSpPr/>
          <p:nvPr/>
        </p:nvSpPr>
        <p:spPr>
          <a:xfrm>
            <a:off x="548640" y="1143000"/>
            <a:ext cx="1106424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Illustrative example figures — replace with your actual Week 7 findings.</a:t>
            </a:r>
            <a:endParaRPr lang="en-US" sz="1100" dirty="0"/>
          </a:p>
        </p:txBody>
      </p:sp>
      <p:graphicFrame>
        <p:nvGraphicFramePr>
          <p:cNvPr id="4" name="Chart 0" descr=""/>
          <p:cNvGraphicFramePr/>
          <p:nvPr/>
        </p:nvGraphicFramePr>
        <p:xfrm>
          <a:off x="548640" y="1554480"/>
          <a:ext cx="548640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309360" y="1554480"/>
            <a:ext cx="530352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Key takeaways</a:t>
            </a:r>
            <a:endParaRPr lang="en-US" sz="1600" dirty="0"/>
          </a:p>
        </p:txBody>
      </p:sp>
      <p:sp>
        <p:nvSpPr>
          <p:cNvPr id="6" name="Text 3"/>
          <p:cNvSpPr/>
          <p:nvPr/>
        </p:nvSpPr>
        <p:spPr>
          <a:xfrm>
            <a:off x="6309360" y="1965960"/>
            <a:ext cx="5303520" cy="2560320"/>
          </a:xfrm>
          <a:prstGeom prst="rect">
            <a:avLst/>
          </a:prstGeom>
          <a:noFill/>
          <a:ln/>
        </p:spPr>
        <p:txBody>
          <a:bodyPr wrap="square" rtlCol="0" anchor="ctr"/>
          <a:lstStyle/>
          <a:p>
            <a:pPr marL="342900" indent="-342900">
              <a:lnSpc>
                <a:spcPts val="2200"/>
              </a:lnSpc>
              <a:spcAft>
                <a:spcPts val="800"/>
              </a:spcAft>
              <a:buSzPct val="100000"/>
              <a:buChar char="•"/>
            </a:pPr>
            <a:r>
              <a:rPr lang="en-US" sz="1400" dirty="0">
                <a:solidFill>
                  <a:srgbClr val="1B2130"/>
                </a:solidFill>
                <a:latin typeface="Calibri" pitchFamily="34" charset="0"/>
                <a:ea typeface="Calibri" pitchFamily="34" charset="-122"/>
                <a:cs typeface="Calibri" pitchFamily="34" charset="-120"/>
              </a:rPr>
              <a:t>Preventive maintenance compliance up to 96%</a:t>
            </a:r>
            <a:endParaRPr lang="en-US" sz="1400" dirty="0"/>
          </a:p>
          <a:p>
            <a:pPr marL="342900" indent="-342900">
              <a:lnSpc>
                <a:spcPts val="2200"/>
              </a:lnSpc>
              <a:spcAft>
                <a:spcPts val="800"/>
              </a:spcAft>
              <a:buSzPct val="100000"/>
              <a:buChar char="•"/>
            </a:pPr>
            <a:r>
              <a:rPr lang="en-US" sz="1400" dirty="0">
                <a:solidFill>
                  <a:srgbClr val="1B2130"/>
                </a:solidFill>
                <a:latin typeface="Calibri" pitchFamily="34" charset="0"/>
                <a:ea typeface="Calibri" pitchFamily="34" charset="-122"/>
                <a:cs typeface="Calibri" pitchFamily="34" charset="-120"/>
              </a:rPr>
              <a:t>Unplanned downtime cut roughly 30% quarter-over-quarter</a:t>
            </a:r>
            <a:endParaRPr lang="en-US" sz="1400" dirty="0"/>
          </a:p>
          <a:p>
            <a:pPr marL="342900" indent="-342900">
              <a:lnSpc>
                <a:spcPts val="2200"/>
              </a:lnSpc>
              <a:spcAft>
                <a:spcPts val="800"/>
              </a:spcAft>
              <a:buSzPct val="100000"/>
              <a:buChar char="•"/>
            </a:pPr>
            <a:r>
              <a:rPr lang="en-US" sz="1400" dirty="0">
                <a:solidFill>
                  <a:srgbClr val="1B2130"/>
                </a:solidFill>
                <a:latin typeface="Calibri" pitchFamily="34" charset="0"/>
                <a:ea typeface="Calibri" pitchFamily="34" charset="-122"/>
                <a:cs typeface="Calibri" pitchFamily="34" charset="-120"/>
              </a:rPr>
              <a:t>Two aging conveyor units flagged for replacement in FY planning</a:t>
            </a:r>
            <a:endParaRPr lang="en-US" sz="1400" dirty="0"/>
          </a:p>
          <a:p>
            <a:pPr marL="342900" indent="-342900">
              <a:lnSpc>
                <a:spcPts val="2200"/>
              </a:lnSpc>
              <a:buSzPct val="100000"/>
              <a:buChar char="•"/>
            </a:pPr>
            <a:r>
              <a:rPr lang="en-US" sz="1400" dirty="0">
                <a:solidFill>
                  <a:srgbClr val="1B2130"/>
                </a:solidFill>
                <a:latin typeface="Calibri" pitchFamily="34" charset="0"/>
                <a:ea typeface="Calibri" pitchFamily="34" charset="-122"/>
                <a:cs typeface="Calibri" pitchFamily="34" charset="-120"/>
              </a:rPr>
              <a:t>Reliable uptime is a precondition for the inventory policy on the next slides</a:t>
            </a:r>
            <a:endParaRPr lang="en-US" sz="1400" dirty="0"/>
          </a:p>
        </p:txBody>
      </p:sp>
      <p:sp>
        <p:nvSpPr>
          <p:cNvPr id="8" name="Text 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9" name="Text 5"/>
          <p:cNvSpPr/>
          <p:nvPr/>
        </p:nvSpPr>
        <p:spPr>
          <a:xfrm>
            <a:off x="7159752" y="6510528"/>
            <a:ext cx="45720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Quarterly Operations Review — Confidential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Supply Chain Performance — Demand Forecast</a:t>
            </a:r>
            <a:endParaRPr lang="en-US" sz="3000" dirty="0"/>
          </a:p>
        </p:txBody>
      </p:sp>
      <p:sp>
        <p:nvSpPr>
          <p:cNvPr id="3" name="Text 1"/>
          <p:cNvSpPr/>
          <p:nvPr/>
        </p:nvSpPr>
        <p:spPr>
          <a:xfrm>
            <a:off x="548640" y="1143000"/>
            <a:ext cx="11064240" cy="548640"/>
          </a:xfrm>
          <a:prstGeom prst="rect">
            <a:avLst/>
          </a:prstGeom>
          <a:noFill/>
          <a:ln/>
        </p:spPr>
        <p:txBody>
          <a:bodyPr wrap="square" rtlCol="0" anchor="ctr"/>
          <a:lstStyle/>
          <a:p>
            <a:pPr indent="0" marL="0">
              <a:buNone/>
            </a:pPr>
            <a:r>
              <a:rPr lang="en-US" sz="1300" dirty="0">
                <a:solidFill>
                  <a:srgbClr val="3D4A63"/>
                </a:solidFill>
                <a:latin typeface="Calibri" pitchFamily="34" charset="0"/>
                <a:ea typeface="Calibri" pitchFamily="34" charset="-122"/>
                <a:cs typeface="Calibri" pitchFamily="34" charset="-120"/>
              </a:rPr>
              <a:t>We built a Prophet forecasting model incorporating US holidays and a planned-promotion regressor, then validated it on a 45-day holdout before trusting it for inventory decisions.</a:t>
            </a:r>
            <a:endParaRPr lang="en-US" sz="1300" dirty="0"/>
          </a:p>
        </p:txBody>
      </p:sp>
      <p:sp>
        <p:nvSpPr>
          <p:cNvPr id="4" name="Shape 2"/>
          <p:cNvSpPr/>
          <p:nvPr/>
        </p:nvSpPr>
        <p:spPr>
          <a:xfrm>
            <a:off x="548640" y="1828800"/>
            <a:ext cx="3383280" cy="1554480"/>
          </a:xfrm>
          <a:prstGeom prst="roundRect">
            <a:avLst>
              <a:gd name="adj" fmla="val 5882"/>
            </a:avLst>
          </a:prstGeom>
          <a:solidFill>
            <a:srgbClr val="F2F4F7"/>
          </a:solidFill>
          <a:ln/>
        </p:spPr>
      </p:sp>
      <p:sp>
        <p:nvSpPr>
          <p:cNvPr id="5" name="Text 3"/>
          <p:cNvSpPr/>
          <p:nvPr/>
        </p:nvSpPr>
        <p:spPr>
          <a:xfrm>
            <a:off x="777240" y="2011680"/>
            <a:ext cx="2926080" cy="68580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4.4%</a:t>
            </a:r>
            <a:endParaRPr lang="en-US" sz="3000" dirty="0"/>
          </a:p>
        </p:txBody>
      </p:sp>
      <p:sp>
        <p:nvSpPr>
          <p:cNvPr id="6" name="Text 4"/>
          <p:cNvSpPr/>
          <p:nvPr/>
        </p:nvSpPr>
        <p:spPr>
          <a:xfrm>
            <a:off x="777240" y="2697480"/>
            <a:ext cx="2926080" cy="274320"/>
          </a:xfrm>
          <a:prstGeom prst="rect">
            <a:avLst/>
          </a:prstGeom>
          <a:noFill/>
          <a:ln/>
        </p:spPr>
        <p:txBody>
          <a:bodyPr wrap="square" rtlCol="0" anchor="ctr"/>
          <a:lstStyle/>
          <a:p>
            <a:pPr indent="0" marL="0">
              <a:buNone/>
            </a:pPr>
            <a:r>
              <a:rPr lang="en-US" sz="1100" b="1" spc="100" kern="0" dirty="0">
                <a:solidFill>
                  <a:srgbClr val="1B7F79"/>
                </a:solidFill>
                <a:latin typeface="Calibri" pitchFamily="34" charset="0"/>
                <a:ea typeface="Calibri" pitchFamily="34" charset="-122"/>
                <a:cs typeface="Calibri" pitchFamily="34" charset="-120"/>
              </a:rPr>
              <a:t>MAPE</a:t>
            </a:r>
            <a:endParaRPr lang="en-US" sz="1100" dirty="0"/>
          </a:p>
        </p:txBody>
      </p:sp>
      <p:sp>
        <p:nvSpPr>
          <p:cNvPr id="7" name="Text 5"/>
          <p:cNvSpPr/>
          <p:nvPr/>
        </p:nvSpPr>
        <p:spPr>
          <a:xfrm>
            <a:off x="777240" y="2971800"/>
            <a:ext cx="2926080" cy="36576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Mean absolute % error</a:t>
            </a:r>
            <a:endParaRPr lang="en-US" sz="1100" dirty="0"/>
          </a:p>
        </p:txBody>
      </p:sp>
      <p:sp>
        <p:nvSpPr>
          <p:cNvPr id="8" name="Shape 6"/>
          <p:cNvSpPr/>
          <p:nvPr/>
        </p:nvSpPr>
        <p:spPr>
          <a:xfrm>
            <a:off x="4251960" y="1828800"/>
            <a:ext cx="3383280" cy="1554480"/>
          </a:xfrm>
          <a:prstGeom prst="roundRect">
            <a:avLst>
              <a:gd name="adj" fmla="val 5882"/>
            </a:avLst>
          </a:prstGeom>
          <a:solidFill>
            <a:srgbClr val="F2F4F7"/>
          </a:solidFill>
          <a:ln/>
        </p:spPr>
      </p:sp>
      <p:sp>
        <p:nvSpPr>
          <p:cNvPr id="9" name="Text 7"/>
          <p:cNvSpPr/>
          <p:nvPr/>
        </p:nvSpPr>
        <p:spPr>
          <a:xfrm>
            <a:off x="4480560" y="2011680"/>
            <a:ext cx="2926080" cy="68580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40 units</a:t>
            </a:r>
            <a:endParaRPr lang="en-US" sz="3000" dirty="0"/>
          </a:p>
        </p:txBody>
      </p:sp>
      <p:sp>
        <p:nvSpPr>
          <p:cNvPr id="10" name="Text 8"/>
          <p:cNvSpPr/>
          <p:nvPr/>
        </p:nvSpPr>
        <p:spPr>
          <a:xfrm>
            <a:off x="4480560" y="2697480"/>
            <a:ext cx="2926080" cy="274320"/>
          </a:xfrm>
          <a:prstGeom prst="rect">
            <a:avLst/>
          </a:prstGeom>
          <a:noFill/>
          <a:ln/>
        </p:spPr>
        <p:txBody>
          <a:bodyPr wrap="square" rtlCol="0" anchor="ctr"/>
          <a:lstStyle/>
          <a:p>
            <a:pPr indent="0" marL="0">
              <a:buNone/>
            </a:pPr>
            <a:r>
              <a:rPr lang="en-US" sz="1100" b="1" spc="100" kern="0" dirty="0">
                <a:solidFill>
                  <a:srgbClr val="1B7F79"/>
                </a:solidFill>
                <a:latin typeface="Calibri" pitchFamily="34" charset="0"/>
                <a:ea typeface="Calibri" pitchFamily="34" charset="-122"/>
                <a:cs typeface="Calibri" pitchFamily="34" charset="-120"/>
              </a:rPr>
              <a:t>RMSE</a:t>
            </a:r>
            <a:endParaRPr lang="en-US" sz="1100" dirty="0"/>
          </a:p>
        </p:txBody>
      </p:sp>
      <p:sp>
        <p:nvSpPr>
          <p:cNvPr id="11" name="Text 9"/>
          <p:cNvSpPr/>
          <p:nvPr/>
        </p:nvSpPr>
        <p:spPr>
          <a:xfrm>
            <a:off x="4480560" y="2971800"/>
            <a:ext cx="2926080" cy="36576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vs ~660 units/day avg demand</a:t>
            </a:r>
            <a:endParaRPr lang="en-US" sz="1100" dirty="0"/>
          </a:p>
        </p:txBody>
      </p:sp>
      <p:sp>
        <p:nvSpPr>
          <p:cNvPr id="12" name="Shape 10"/>
          <p:cNvSpPr/>
          <p:nvPr/>
        </p:nvSpPr>
        <p:spPr>
          <a:xfrm>
            <a:off x="7955280" y="1828800"/>
            <a:ext cx="3383280" cy="1554480"/>
          </a:xfrm>
          <a:prstGeom prst="roundRect">
            <a:avLst>
              <a:gd name="adj" fmla="val 5882"/>
            </a:avLst>
          </a:prstGeom>
          <a:solidFill>
            <a:srgbClr val="F2F4F7"/>
          </a:solidFill>
          <a:ln/>
        </p:spPr>
      </p:sp>
      <p:sp>
        <p:nvSpPr>
          <p:cNvPr id="13" name="Text 11"/>
          <p:cNvSpPr/>
          <p:nvPr/>
        </p:nvSpPr>
        <p:spPr>
          <a:xfrm>
            <a:off x="8183880" y="2011680"/>
            <a:ext cx="2926080" cy="68580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45 days</a:t>
            </a:r>
            <a:endParaRPr lang="en-US" sz="3000" dirty="0"/>
          </a:p>
        </p:txBody>
      </p:sp>
      <p:sp>
        <p:nvSpPr>
          <p:cNvPr id="14" name="Text 12"/>
          <p:cNvSpPr/>
          <p:nvPr/>
        </p:nvSpPr>
        <p:spPr>
          <a:xfrm>
            <a:off x="8183880" y="2697480"/>
            <a:ext cx="2926080" cy="274320"/>
          </a:xfrm>
          <a:prstGeom prst="rect">
            <a:avLst/>
          </a:prstGeom>
          <a:noFill/>
          <a:ln/>
        </p:spPr>
        <p:txBody>
          <a:bodyPr wrap="square" rtlCol="0" anchor="ctr"/>
          <a:lstStyle/>
          <a:p>
            <a:pPr indent="0" marL="0">
              <a:buNone/>
            </a:pPr>
            <a:r>
              <a:rPr lang="en-US" sz="1100" b="1" spc="100" kern="0" dirty="0">
                <a:solidFill>
                  <a:srgbClr val="1B7F79"/>
                </a:solidFill>
                <a:latin typeface="Calibri" pitchFamily="34" charset="0"/>
                <a:ea typeface="Calibri" pitchFamily="34" charset="-122"/>
                <a:cs typeface="Calibri" pitchFamily="34" charset="-120"/>
              </a:rPr>
              <a:t>HORIZON</a:t>
            </a:r>
            <a:endParaRPr lang="en-US" sz="1100" dirty="0"/>
          </a:p>
        </p:txBody>
      </p:sp>
      <p:sp>
        <p:nvSpPr>
          <p:cNvPr id="15" name="Text 13"/>
          <p:cNvSpPr/>
          <p:nvPr/>
        </p:nvSpPr>
        <p:spPr>
          <a:xfrm>
            <a:off x="8183880" y="2971800"/>
            <a:ext cx="2926080" cy="36576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Forward forecast produced</a:t>
            </a:r>
            <a:endParaRPr lang="en-US" sz="1100" dirty="0"/>
          </a:p>
        </p:txBody>
      </p:sp>
      <p:sp>
        <p:nvSpPr>
          <p:cNvPr id="16" name="Text 14"/>
          <p:cNvSpPr/>
          <p:nvPr/>
        </p:nvSpPr>
        <p:spPr>
          <a:xfrm>
            <a:off x="548640" y="3657600"/>
            <a:ext cx="1106424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Why an external regressor mattered</a:t>
            </a:r>
            <a:endParaRPr lang="en-US" sz="1600" dirty="0"/>
          </a:p>
        </p:txBody>
      </p:sp>
      <p:sp>
        <p:nvSpPr>
          <p:cNvPr id="17" name="Text 15"/>
          <p:cNvSpPr/>
          <p:nvPr/>
        </p:nvSpPr>
        <p:spPr>
          <a:xfrm>
            <a:off x="548640" y="4023360"/>
            <a:ext cx="11064240" cy="2194560"/>
          </a:xfrm>
          <a:prstGeom prst="rect">
            <a:avLst/>
          </a:prstGeom>
          <a:noFill/>
          <a:ln/>
        </p:spPr>
        <p:txBody>
          <a:bodyPr wrap="square" rtlCol="0" anchor="ctr"/>
          <a:lstStyle/>
          <a:p>
            <a:pPr marL="342900" indent="-342900">
              <a:lnSpc>
                <a:spcPts val="2200"/>
              </a:lnSpc>
              <a:spcAft>
                <a:spcPts val="800"/>
              </a:spcAft>
              <a:buSzPct val="100000"/>
              <a:buChar char="•"/>
            </a:pPr>
            <a:r>
              <a:rPr lang="en-US" sz="1400" dirty="0">
                <a:solidFill>
                  <a:srgbClr val="1B2130"/>
                </a:solidFill>
                <a:latin typeface="Calibri" pitchFamily="34" charset="0"/>
                <a:ea typeface="Calibri" pitchFamily="34" charset="-122"/>
                <a:cs typeface="Calibri" pitchFamily="34" charset="-120"/>
              </a:rPr>
              <a:t>Holiday weeks (Thanksgiving, Christmas, July 4th) show demand spikes of 20–130 units/day the base model would miss</a:t>
            </a:r>
            <a:endParaRPr lang="en-US" sz="1400" dirty="0"/>
          </a:p>
          <a:p>
            <a:pPr marL="342900" indent="-342900">
              <a:lnSpc>
                <a:spcPts val="2200"/>
              </a:lnSpc>
              <a:spcAft>
                <a:spcPts val="800"/>
              </a:spcAft>
              <a:buSzPct val="100000"/>
              <a:buChar char="•"/>
            </a:pPr>
            <a:r>
              <a:rPr lang="en-US" sz="1400" dirty="0">
                <a:solidFill>
                  <a:srgbClr val="1B2130"/>
                </a:solidFill>
                <a:latin typeface="Calibri" pitchFamily="34" charset="0"/>
                <a:ea typeface="Calibri" pitchFamily="34" charset="-122"/>
                <a:cs typeface="Calibri" pitchFamily="34" charset="-120"/>
              </a:rPr>
              <a:t>Planned promotions lift daily demand 25–45% — feeding the promo calendar in as a regressor let the model anticipate it instead of reacting after the fact</a:t>
            </a:r>
            <a:endParaRPr lang="en-US" sz="1400" dirty="0"/>
          </a:p>
          <a:p>
            <a:pPr marL="342900" indent="-342900">
              <a:lnSpc>
                <a:spcPts val="2200"/>
              </a:lnSpc>
              <a:buSzPct val="100000"/>
              <a:buChar char="•"/>
            </a:pPr>
            <a:r>
              <a:rPr lang="en-US" sz="1400" dirty="0">
                <a:solidFill>
                  <a:srgbClr val="1B2130"/>
                </a:solidFill>
                <a:latin typeface="Calibri" pitchFamily="34" charset="0"/>
                <a:ea typeface="Calibri" pitchFamily="34" charset="-122"/>
                <a:cs typeface="Calibri" pitchFamily="34" charset="-120"/>
              </a:rPr>
              <a:t>Net effect: forecast error small enough to size inventory buffers with confidence, not guesswork</a:t>
            </a:r>
            <a:endParaRPr lang="en-US" sz="1400" dirty="0"/>
          </a:p>
        </p:txBody>
      </p:sp>
      <p:sp>
        <p:nvSpPr>
          <p:cNvPr id="19" name="Text 16"/>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20" name="Text 17"/>
          <p:cNvSpPr/>
          <p:nvPr/>
        </p:nvSpPr>
        <p:spPr>
          <a:xfrm>
            <a:off x="7159752" y="6510528"/>
            <a:ext cx="45720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Quarterly Operations Review — Confidential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Supply Chain Performance — Inventory Policy</a:t>
            </a:r>
            <a:endParaRPr lang="en-US" sz="3000" dirty="0"/>
          </a:p>
        </p:txBody>
      </p:sp>
      <p:graphicFrame>
        <p:nvGraphicFramePr>
          <p:cNvPr id="3" name="Chart 0" descr=""/>
          <p:cNvGraphicFramePr/>
          <p:nvPr/>
        </p:nvGraphicFramePr>
        <p:xfrm>
          <a:off x="548640" y="1417320"/>
          <a:ext cx="5303520" cy="32918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6172200" y="1417320"/>
            <a:ext cx="5440680" cy="32004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Policy inputs (assumptions)</a:t>
            </a:r>
            <a:endParaRPr lang="en-US" sz="1500" dirty="0"/>
          </a:p>
        </p:txBody>
      </p:sp>
      <p:sp>
        <p:nvSpPr>
          <p:cNvPr id="5" name="Text 2"/>
          <p:cNvSpPr/>
          <p:nvPr/>
        </p:nvSpPr>
        <p:spPr>
          <a:xfrm>
            <a:off x="6172200" y="1828800"/>
            <a:ext cx="2926080" cy="384048"/>
          </a:xfrm>
          <a:prstGeom prst="rect">
            <a:avLst/>
          </a:prstGeom>
          <a:noFill/>
          <a:ln/>
        </p:spPr>
        <p:txBody>
          <a:bodyPr wrap="square" rtlCol="0" anchor="ctr"/>
          <a:lstStyle/>
          <a:p>
            <a:pPr indent="0" marL="0">
              <a:buNone/>
            </a:pPr>
            <a:r>
              <a:rPr lang="en-US" sz="1250" dirty="0">
                <a:solidFill>
                  <a:srgbClr val="6B7280"/>
                </a:solidFill>
                <a:latin typeface="Calibri" pitchFamily="34" charset="0"/>
                <a:ea typeface="Calibri" pitchFamily="34" charset="-122"/>
                <a:cs typeface="Calibri" pitchFamily="34" charset="-120"/>
              </a:rPr>
              <a:t>Target service level</a:t>
            </a:r>
            <a:endParaRPr lang="en-US" sz="1250" dirty="0"/>
          </a:p>
        </p:txBody>
      </p:sp>
      <p:sp>
        <p:nvSpPr>
          <p:cNvPr id="6" name="Text 3"/>
          <p:cNvSpPr/>
          <p:nvPr/>
        </p:nvSpPr>
        <p:spPr>
          <a:xfrm>
            <a:off x="9098280" y="1828800"/>
            <a:ext cx="2468880" cy="384048"/>
          </a:xfrm>
          <a:prstGeom prst="rect">
            <a:avLst/>
          </a:prstGeom>
          <a:noFill/>
          <a:ln/>
        </p:spPr>
        <p:txBody>
          <a:bodyPr wrap="square" rtlCol="0" anchor="ctr"/>
          <a:lstStyle/>
          <a:p>
            <a:pPr algn="r" indent="0" marL="0">
              <a:buNone/>
            </a:pPr>
            <a:r>
              <a:rPr lang="en-US" sz="1250" b="1" dirty="0">
                <a:solidFill>
                  <a:srgbClr val="1B2130"/>
                </a:solidFill>
                <a:latin typeface="Calibri" pitchFamily="34" charset="0"/>
                <a:ea typeface="Calibri" pitchFamily="34" charset="-122"/>
                <a:cs typeface="Calibri" pitchFamily="34" charset="-120"/>
              </a:rPr>
              <a:t>95% (Z = 1.645)</a:t>
            </a:r>
            <a:endParaRPr lang="en-US" sz="1250" dirty="0"/>
          </a:p>
        </p:txBody>
      </p:sp>
      <p:sp>
        <p:nvSpPr>
          <p:cNvPr id="7" name="Text 4"/>
          <p:cNvSpPr/>
          <p:nvPr/>
        </p:nvSpPr>
        <p:spPr>
          <a:xfrm>
            <a:off x="6172200" y="2249424"/>
            <a:ext cx="2926080" cy="384048"/>
          </a:xfrm>
          <a:prstGeom prst="rect">
            <a:avLst/>
          </a:prstGeom>
          <a:noFill/>
          <a:ln/>
        </p:spPr>
        <p:txBody>
          <a:bodyPr wrap="square" rtlCol="0" anchor="ctr"/>
          <a:lstStyle/>
          <a:p>
            <a:pPr indent="0" marL="0">
              <a:buNone/>
            </a:pPr>
            <a:r>
              <a:rPr lang="en-US" sz="1250" dirty="0">
                <a:solidFill>
                  <a:srgbClr val="6B7280"/>
                </a:solidFill>
                <a:latin typeface="Calibri" pitchFamily="34" charset="0"/>
                <a:ea typeface="Calibri" pitchFamily="34" charset="-122"/>
                <a:cs typeface="Calibri" pitchFamily="34" charset="-120"/>
              </a:rPr>
              <a:t>Lead time</a:t>
            </a:r>
            <a:endParaRPr lang="en-US" sz="1250" dirty="0"/>
          </a:p>
        </p:txBody>
      </p:sp>
      <p:sp>
        <p:nvSpPr>
          <p:cNvPr id="8" name="Text 5"/>
          <p:cNvSpPr/>
          <p:nvPr/>
        </p:nvSpPr>
        <p:spPr>
          <a:xfrm>
            <a:off x="9098280" y="2249424"/>
            <a:ext cx="2468880" cy="384048"/>
          </a:xfrm>
          <a:prstGeom prst="rect">
            <a:avLst/>
          </a:prstGeom>
          <a:noFill/>
          <a:ln/>
        </p:spPr>
        <p:txBody>
          <a:bodyPr wrap="square" rtlCol="0" anchor="ctr"/>
          <a:lstStyle/>
          <a:p>
            <a:pPr algn="r" indent="0" marL="0">
              <a:buNone/>
            </a:pPr>
            <a:r>
              <a:rPr lang="en-US" sz="1250" b="1" dirty="0">
                <a:solidFill>
                  <a:srgbClr val="1B2130"/>
                </a:solidFill>
                <a:latin typeface="Calibri" pitchFamily="34" charset="0"/>
                <a:ea typeface="Calibri" pitchFamily="34" charset="-122"/>
                <a:cs typeface="Calibri" pitchFamily="34" charset="-120"/>
              </a:rPr>
              <a:t>7 days</a:t>
            </a:r>
            <a:endParaRPr lang="en-US" sz="1250" dirty="0"/>
          </a:p>
        </p:txBody>
      </p:sp>
      <p:sp>
        <p:nvSpPr>
          <p:cNvPr id="9" name="Text 6"/>
          <p:cNvSpPr/>
          <p:nvPr/>
        </p:nvSpPr>
        <p:spPr>
          <a:xfrm>
            <a:off x="6172200" y="2670048"/>
            <a:ext cx="2926080" cy="384048"/>
          </a:xfrm>
          <a:prstGeom prst="rect">
            <a:avLst/>
          </a:prstGeom>
          <a:noFill/>
          <a:ln/>
        </p:spPr>
        <p:txBody>
          <a:bodyPr wrap="square" rtlCol="0" anchor="ctr"/>
          <a:lstStyle/>
          <a:p>
            <a:pPr indent="0" marL="0">
              <a:buNone/>
            </a:pPr>
            <a:r>
              <a:rPr lang="en-US" sz="1250" dirty="0">
                <a:solidFill>
                  <a:srgbClr val="6B7280"/>
                </a:solidFill>
                <a:latin typeface="Calibri" pitchFamily="34" charset="0"/>
                <a:ea typeface="Calibri" pitchFamily="34" charset="-122"/>
                <a:cs typeface="Calibri" pitchFamily="34" charset="-120"/>
              </a:rPr>
              <a:t>Demand variability (σ)</a:t>
            </a:r>
            <a:endParaRPr lang="en-US" sz="1250" dirty="0"/>
          </a:p>
        </p:txBody>
      </p:sp>
      <p:sp>
        <p:nvSpPr>
          <p:cNvPr id="10" name="Text 7"/>
          <p:cNvSpPr/>
          <p:nvPr/>
        </p:nvSpPr>
        <p:spPr>
          <a:xfrm>
            <a:off x="9098280" y="2670048"/>
            <a:ext cx="2468880" cy="384048"/>
          </a:xfrm>
          <a:prstGeom prst="rect">
            <a:avLst/>
          </a:prstGeom>
          <a:noFill/>
          <a:ln/>
        </p:spPr>
        <p:txBody>
          <a:bodyPr wrap="square" rtlCol="0" anchor="ctr"/>
          <a:lstStyle/>
          <a:p>
            <a:pPr algn="r" indent="0" marL="0">
              <a:buNone/>
            </a:pPr>
            <a:r>
              <a:rPr lang="en-US" sz="1250" b="1" dirty="0">
                <a:solidFill>
                  <a:srgbClr val="1B2130"/>
                </a:solidFill>
                <a:latin typeface="Calibri" pitchFamily="34" charset="0"/>
                <a:ea typeface="Calibri" pitchFamily="34" charset="-122"/>
                <a:cs typeface="Calibri" pitchFamily="34" charset="-120"/>
              </a:rPr>
              <a:t>37.5 units/day (from forecast error)</a:t>
            </a:r>
            <a:endParaRPr lang="en-US" sz="1250" dirty="0"/>
          </a:p>
        </p:txBody>
      </p:sp>
      <p:sp>
        <p:nvSpPr>
          <p:cNvPr id="11" name="Text 8"/>
          <p:cNvSpPr/>
          <p:nvPr/>
        </p:nvSpPr>
        <p:spPr>
          <a:xfrm>
            <a:off x="6172200" y="3090672"/>
            <a:ext cx="2926080" cy="384048"/>
          </a:xfrm>
          <a:prstGeom prst="rect">
            <a:avLst/>
          </a:prstGeom>
          <a:noFill/>
          <a:ln/>
        </p:spPr>
        <p:txBody>
          <a:bodyPr wrap="square" rtlCol="0" anchor="ctr"/>
          <a:lstStyle/>
          <a:p>
            <a:pPr indent="0" marL="0">
              <a:buNone/>
            </a:pPr>
            <a:r>
              <a:rPr lang="en-US" sz="1250" dirty="0">
                <a:solidFill>
                  <a:srgbClr val="6B7280"/>
                </a:solidFill>
                <a:latin typeface="Calibri" pitchFamily="34" charset="0"/>
                <a:ea typeface="Calibri" pitchFamily="34" charset="-122"/>
                <a:cs typeface="Calibri" pitchFamily="34" charset="-120"/>
              </a:rPr>
              <a:t>Safety Stock</a:t>
            </a:r>
            <a:endParaRPr lang="en-US" sz="1250" dirty="0"/>
          </a:p>
        </p:txBody>
      </p:sp>
      <p:sp>
        <p:nvSpPr>
          <p:cNvPr id="12" name="Text 9"/>
          <p:cNvSpPr/>
          <p:nvPr/>
        </p:nvSpPr>
        <p:spPr>
          <a:xfrm>
            <a:off x="9098280" y="3090672"/>
            <a:ext cx="2468880" cy="384048"/>
          </a:xfrm>
          <a:prstGeom prst="rect">
            <a:avLst/>
          </a:prstGeom>
          <a:noFill/>
          <a:ln/>
        </p:spPr>
        <p:txBody>
          <a:bodyPr wrap="square" rtlCol="0" anchor="ctr"/>
          <a:lstStyle/>
          <a:p>
            <a:pPr algn="r" indent="0" marL="0">
              <a:buNone/>
            </a:pPr>
            <a:r>
              <a:rPr lang="en-US" sz="1250" b="1" dirty="0">
                <a:solidFill>
                  <a:srgbClr val="1B2130"/>
                </a:solidFill>
                <a:latin typeface="Calibri" pitchFamily="34" charset="0"/>
                <a:ea typeface="Calibri" pitchFamily="34" charset="-122"/>
                <a:cs typeface="Calibri" pitchFamily="34" charset="-120"/>
              </a:rPr>
              <a:t>163 units</a:t>
            </a:r>
            <a:endParaRPr lang="en-US" sz="1250" dirty="0"/>
          </a:p>
        </p:txBody>
      </p:sp>
      <p:sp>
        <p:nvSpPr>
          <p:cNvPr id="13" name="Text 10"/>
          <p:cNvSpPr/>
          <p:nvPr/>
        </p:nvSpPr>
        <p:spPr>
          <a:xfrm>
            <a:off x="6172200" y="3511296"/>
            <a:ext cx="2926080" cy="384048"/>
          </a:xfrm>
          <a:prstGeom prst="rect">
            <a:avLst/>
          </a:prstGeom>
          <a:noFill/>
          <a:ln/>
        </p:spPr>
        <p:txBody>
          <a:bodyPr wrap="square"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Reorder Point</a:t>
            </a:r>
            <a:endParaRPr lang="en-US" sz="1250" dirty="0"/>
          </a:p>
        </p:txBody>
      </p:sp>
      <p:sp>
        <p:nvSpPr>
          <p:cNvPr id="14" name="Text 11"/>
          <p:cNvSpPr/>
          <p:nvPr/>
        </p:nvSpPr>
        <p:spPr>
          <a:xfrm>
            <a:off x="9098280" y="3511296"/>
            <a:ext cx="2468880" cy="384048"/>
          </a:xfrm>
          <a:prstGeom prst="rect">
            <a:avLst/>
          </a:prstGeom>
          <a:noFill/>
          <a:ln/>
        </p:spPr>
        <p:txBody>
          <a:bodyPr wrap="square" rtlCol="0" anchor="ctr"/>
          <a:lstStyle/>
          <a:p>
            <a:pPr algn="r" indent="0" marL="0">
              <a:buNone/>
            </a:pPr>
            <a:r>
              <a:rPr lang="en-US" sz="1250" b="1" dirty="0">
                <a:solidFill>
                  <a:srgbClr val="1B2130"/>
                </a:solidFill>
                <a:latin typeface="Calibri" pitchFamily="34" charset="0"/>
                <a:ea typeface="Calibri" pitchFamily="34" charset="-122"/>
                <a:cs typeface="Calibri" pitchFamily="34" charset="-120"/>
              </a:rPr>
              <a:t>4,797 units</a:t>
            </a:r>
            <a:endParaRPr lang="en-US" sz="1250" dirty="0"/>
          </a:p>
        </p:txBody>
      </p:sp>
      <p:sp>
        <p:nvSpPr>
          <p:cNvPr id="15" name="Shape 12"/>
          <p:cNvSpPr/>
          <p:nvPr/>
        </p:nvSpPr>
        <p:spPr>
          <a:xfrm>
            <a:off x="6172200" y="3977640"/>
            <a:ext cx="5394960" cy="0"/>
          </a:xfrm>
          <a:prstGeom prst="line">
            <a:avLst/>
          </a:prstGeom>
          <a:noFill/>
          <a:ln w="12700">
            <a:solidFill>
              <a:srgbClr val="E5E7EB"/>
            </a:solidFill>
            <a:prstDash val="solid"/>
          </a:ln>
        </p:spPr>
      </p:sp>
      <p:sp>
        <p:nvSpPr>
          <p:cNvPr id="16" name="Text 13"/>
          <p:cNvSpPr/>
          <p:nvPr/>
        </p:nvSpPr>
        <p:spPr>
          <a:xfrm>
            <a:off x="6172200" y="4160520"/>
            <a:ext cx="5394960" cy="914400"/>
          </a:xfrm>
          <a:prstGeom prst="rect">
            <a:avLst/>
          </a:prstGeom>
          <a:noFill/>
          <a:ln/>
        </p:spPr>
        <p:txBody>
          <a:bodyPr wrap="square" rtlCol="0" anchor="ctr"/>
          <a:lstStyle/>
          <a:p>
            <a:pPr indent="0" marL="0">
              <a:lnSpc>
                <a:spcPts val="1700"/>
              </a:lnSpc>
              <a:buNone/>
            </a:pPr>
            <a:r>
              <a:rPr lang="en-US" sz="1250" i="1" dirty="0">
                <a:solidFill>
                  <a:srgbClr val="3D4A63"/>
                </a:solidFill>
                <a:latin typeface="Calibri" pitchFamily="34" charset="0"/>
                <a:ea typeface="Calibri" pitchFamily="34" charset="-122"/>
                <a:cs typeface="Calibri" pitchFamily="34" charset="-120"/>
              </a:rPr>
              <a:t>Result: adding the buffer moves us from roughly a coin-flip on stock-outs to right at our 95% service-level target.</a:t>
            </a:r>
            <a:endParaRPr lang="en-US" sz="1250" dirty="0"/>
          </a:p>
        </p:txBody>
      </p:sp>
      <p:sp>
        <p:nvSpPr>
          <p:cNvPr id="18" name="Text 1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
        <p:nvSpPr>
          <p:cNvPr id="19" name="Text 15"/>
          <p:cNvSpPr/>
          <p:nvPr/>
        </p:nvSpPr>
        <p:spPr>
          <a:xfrm>
            <a:off x="7159752" y="6510528"/>
            <a:ext cx="45720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Quarterly Operations Review — Confidential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Supply Chain Performance — Distribution Optimization</a:t>
            </a:r>
            <a:endParaRPr lang="en-US" sz="3000" dirty="0"/>
          </a:p>
        </p:txBody>
      </p:sp>
      <p:sp>
        <p:nvSpPr>
          <p:cNvPr id="3" name="Text 1"/>
          <p:cNvSpPr/>
          <p:nvPr/>
        </p:nvSpPr>
        <p:spPr>
          <a:xfrm>
            <a:off x="548640" y="1143000"/>
            <a:ext cx="11064240" cy="457200"/>
          </a:xfrm>
          <a:prstGeom prst="rect">
            <a:avLst/>
          </a:prstGeom>
          <a:noFill/>
          <a:ln/>
        </p:spPr>
        <p:txBody>
          <a:bodyPr wrap="square" rtlCol="0" anchor="ctr"/>
          <a:lstStyle/>
          <a:p>
            <a:pPr indent="0" marL="0">
              <a:buNone/>
            </a:pPr>
            <a:r>
              <a:rPr lang="en-US" sz="1300" dirty="0">
                <a:solidFill>
                  <a:srgbClr val="3D4A63"/>
                </a:solidFill>
                <a:latin typeface="Calibri" pitchFamily="34" charset="0"/>
                <a:ea typeface="Calibri" pitchFamily="34" charset="-122"/>
                <a:cs typeface="Calibri" pitchFamily="34" charset="-120"/>
              </a:rPr>
              <a:t>Linear program (PuLP): minimize shipping cost routing forecasted demand from 2 distribution centers to 4 regions, respecting DC capacity.</a:t>
            </a:r>
            <a:endParaRPr lang="en-US" sz="1300" dirty="0"/>
          </a:p>
        </p:txBody>
      </p:sp>
      <p:graphicFrame>
        <p:nvGraphicFramePr>
          <p:cNvPr id="4" name="Chart 0" descr=""/>
          <p:cNvGraphicFramePr/>
          <p:nvPr/>
        </p:nvGraphicFramePr>
        <p:xfrm>
          <a:off x="548640" y="1783080"/>
          <a:ext cx="6035040" cy="29260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903720" y="1783080"/>
            <a:ext cx="4709160" cy="32004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Outcome</a:t>
            </a:r>
            <a:endParaRPr lang="en-US" sz="1500" dirty="0"/>
          </a:p>
        </p:txBody>
      </p:sp>
      <p:sp>
        <p:nvSpPr>
          <p:cNvPr id="6" name="Text 3"/>
          <p:cNvSpPr/>
          <p:nvPr/>
        </p:nvSpPr>
        <p:spPr>
          <a:xfrm>
            <a:off x="6903720" y="2148840"/>
            <a:ext cx="4709160" cy="2377440"/>
          </a:xfrm>
          <a:prstGeom prst="rect">
            <a:avLst/>
          </a:prstGeom>
          <a:noFill/>
          <a:ln/>
        </p:spPr>
        <p:txBody>
          <a:bodyPr wrap="square" rtlCol="0" anchor="ctr"/>
          <a:lstStyle/>
          <a:p>
            <a:pPr marL="342900" indent="-342900">
              <a:lnSpc>
                <a:spcPts val="2000"/>
              </a:lnSpc>
              <a:spcAft>
                <a:spcPts val="800"/>
              </a:spcAft>
              <a:buSzPct val="100000"/>
              <a:buChar char="•"/>
            </a:pPr>
            <a:r>
              <a:rPr lang="en-US" sz="1300" dirty="0">
                <a:solidFill>
                  <a:srgbClr val="1B2130"/>
                </a:solidFill>
                <a:latin typeface="Calibri" pitchFamily="34" charset="0"/>
                <a:ea typeface="Calibri" pitchFamily="34" charset="-122"/>
                <a:cs typeface="Calibri" pitchFamily="34" charset="-120"/>
              </a:rPr>
              <a:t>Minimum total shipping cost: $879 for the modeled 7-day-average demand snapshot</a:t>
            </a:r>
            <a:endParaRPr lang="en-US" sz="1300" dirty="0"/>
          </a:p>
          <a:p>
            <a:pPr marL="342900" indent="-342900">
              <a:lnSpc>
                <a:spcPts val="2000"/>
              </a:lnSpc>
              <a:spcAft>
                <a:spcPts val="800"/>
              </a:spcAft>
              <a:buSzPct val="100000"/>
              <a:buChar char="•"/>
            </a:pPr>
            <a:r>
              <a:rPr lang="en-US" sz="1300" dirty="0">
                <a:solidFill>
                  <a:srgbClr val="1B2130"/>
                </a:solidFill>
                <a:latin typeface="Calibri" pitchFamily="34" charset="0"/>
                <a:ea typeface="Calibri" pitchFamily="34" charset="-122"/>
                <a:cs typeface="Calibri" pitchFamily="34" charset="-120"/>
              </a:rPr>
              <a:t>Solver routes each region from its cheapest DC, splitting only when capacity binds</a:t>
            </a:r>
            <a:endParaRPr lang="en-US" sz="1300" dirty="0"/>
          </a:p>
          <a:p>
            <a:pPr marL="342900" indent="-342900">
              <a:lnSpc>
                <a:spcPts val="2000"/>
              </a:lnSpc>
              <a:buSzPct val="100000"/>
              <a:buChar char="•"/>
            </a:pPr>
            <a:r>
              <a:rPr lang="en-US" sz="1300" dirty="0">
                <a:solidFill>
                  <a:srgbClr val="1B2130"/>
                </a:solidFill>
                <a:latin typeface="Calibri" pitchFamily="34" charset="0"/>
                <a:ea typeface="Calibri" pitchFamily="34" charset="-122"/>
                <a:cs typeface="Calibri" pitchFamily="34" charset="-120"/>
              </a:rPr>
              <a:t>Re-run daily against fresh forecast + promo calendar → a repeatable planning tool, not a one-off analysis</a:t>
            </a:r>
            <a:endParaRPr lang="en-US" sz="1300" dirty="0"/>
          </a:p>
        </p:txBody>
      </p:sp>
      <p:sp>
        <p:nvSpPr>
          <p:cNvPr id="8" name="Text 4"/>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9" name="Text 5"/>
          <p:cNvSpPr/>
          <p:nvPr/>
        </p:nvSpPr>
        <p:spPr>
          <a:xfrm>
            <a:off x="7159752" y="6510528"/>
            <a:ext cx="45720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Quarterly Operations Review — Confidential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Strategic Recommendations</a:t>
            </a:r>
            <a:endParaRPr lang="en-US" sz="3000" dirty="0"/>
          </a:p>
        </p:txBody>
      </p:sp>
      <p:sp>
        <p:nvSpPr>
          <p:cNvPr id="3" name="Shape 1"/>
          <p:cNvSpPr/>
          <p:nvPr/>
        </p:nvSpPr>
        <p:spPr>
          <a:xfrm>
            <a:off x="548640" y="1234440"/>
            <a:ext cx="11064240" cy="1600200"/>
          </a:xfrm>
          <a:prstGeom prst="roundRect">
            <a:avLst>
              <a:gd name="adj" fmla="val 4571"/>
            </a:avLst>
          </a:prstGeom>
          <a:solidFill>
            <a:srgbClr val="F2F4F7"/>
          </a:solidFill>
          <a:ln/>
        </p:spPr>
      </p:sp>
      <p:sp>
        <p:nvSpPr>
          <p:cNvPr id="4" name="Shape 2"/>
          <p:cNvSpPr/>
          <p:nvPr/>
        </p:nvSpPr>
        <p:spPr>
          <a:xfrm>
            <a:off x="777240" y="1463040"/>
            <a:ext cx="502920" cy="502920"/>
          </a:xfrm>
          <a:prstGeom prst="ellipse">
            <a:avLst/>
          </a:prstGeom>
          <a:solidFill>
            <a:srgbClr val="1B2A4A"/>
          </a:solidFill>
          <a:ln/>
        </p:spPr>
      </p:sp>
      <p:sp>
        <p:nvSpPr>
          <p:cNvPr id="5" name="Text 3"/>
          <p:cNvSpPr/>
          <p:nvPr/>
        </p:nvSpPr>
        <p:spPr>
          <a:xfrm>
            <a:off x="777240" y="14630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508760" y="1344168"/>
            <a:ext cx="9875520" cy="36576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Formalize the (s, Q) safety-stock policy</a:t>
            </a:r>
            <a:endParaRPr lang="en-US" sz="1500" dirty="0"/>
          </a:p>
        </p:txBody>
      </p:sp>
      <p:sp>
        <p:nvSpPr>
          <p:cNvPr id="7" name="Text 5"/>
          <p:cNvSpPr/>
          <p:nvPr/>
        </p:nvSpPr>
        <p:spPr>
          <a:xfrm>
            <a:off x="1508760" y="1691640"/>
            <a:ext cx="9875520" cy="502920"/>
          </a:xfrm>
          <a:prstGeom prst="rect">
            <a:avLst/>
          </a:prstGeom>
          <a:noFill/>
          <a:ln/>
        </p:spPr>
        <p:txBody>
          <a:bodyPr wrap="square" rtlCol="0" anchor="ctr"/>
          <a:lstStyle/>
          <a:p>
            <a:pPr indent="0" marL="0">
              <a:lnSpc>
                <a:spcPts val="1500"/>
              </a:lnSpc>
              <a:buNone/>
            </a:pPr>
            <a:r>
              <a:rPr lang="en-US" sz="1200" dirty="0">
                <a:solidFill>
                  <a:srgbClr val="1B2130"/>
                </a:solidFill>
                <a:latin typeface="Calibri" pitchFamily="34" charset="0"/>
                <a:ea typeface="Calibri" pitchFamily="34" charset="-122"/>
                <a:cs typeface="Calibri" pitchFamily="34" charset="-120"/>
              </a:rPr>
              <a:t>Adopt the 95%-service-level reorder point (4,797 units) and safety stock (163 units) as the standard replenishment trigger for this SKU family.</a:t>
            </a:r>
            <a:endParaRPr lang="en-US" sz="1200" dirty="0"/>
          </a:p>
        </p:txBody>
      </p:sp>
      <p:sp>
        <p:nvSpPr>
          <p:cNvPr id="8" name="Text 6"/>
          <p:cNvSpPr/>
          <p:nvPr/>
        </p:nvSpPr>
        <p:spPr>
          <a:xfrm>
            <a:off x="1508760" y="2194560"/>
            <a:ext cx="9875520" cy="548640"/>
          </a:xfrm>
          <a:prstGeom prst="rect">
            <a:avLst/>
          </a:prstGeom>
          <a:noFill/>
          <a:ln/>
        </p:spPr>
        <p:txBody>
          <a:bodyPr wrap="square" rtlCol="0" anchor="ctr"/>
          <a:lstStyle/>
          <a:p>
            <a:pPr indent="0" marL="0">
              <a:lnSpc>
                <a:spcPts val="1500"/>
              </a:lnSpc>
              <a:buNone/>
            </a:pPr>
            <a:r>
              <a:rPr lang="en-US" sz="1200" i="1" dirty="0">
                <a:solidFill>
                  <a:srgbClr val="1B7F79"/>
                </a:solidFill>
                <a:latin typeface="Calibri" pitchFamily="34" charset="0"/>
                <a:ea typeface="Calibri" pitchFamily="34" charset="-122"/>
                <a:cs typeface="Calibri" pitchFamily="34" charset="-120"/>
              </a:rPr>
              <a:t>ROI: cuts modeled stock-outs ~45 points (49%→5%); at ~$40/unit margin, avoiding even 1 stock-out event/quarter is worth an estimated $15–25K in protected revenue.</a:t>
            </a:r>
            <a:endParaRPr lang="en-US" sz="1200" dirty="0"/>
          </a:p>
        </p:txBody>
      </p:sp>
      <p:sp>
        <p:nvSpPr>
          <p:cNvPr id="9" name="Shape 7"/>
          <p:cNvSpPr/>
          <p:nvPr/>
        </p:nvSpPr>
        <p:spPr>
          <a:xfrm>
            <a:off x="548640" y="3017520"/>
            <a:ext cx="11064240" cy="1600200"/>
          </a:xfrm>
          <a:prstGeom prst="roundRect">
            <a:avLst>
              <a:gd name="adj" fmla="val 4571"/>
            </a:avLst>
          </a:prstGeom>
          <a:solidFill>
            <a:srgbClr val="F2F4F7"/>
          </a:solidFill>
          <a:ln/>
        </p:spPr>
      </p:sp>
      <p:sp>
        <p:nvSpPr>
          <p:cNvPr id="10" name="Shape 8"/>
          <p:cNvSpPr/>
          <p:nvPr/>
        </p:nvSpPr>
        <p:spPr>
          <a:xfrm>
            <a:off x="777240" y="3246120"/>
            <a:ext cx="502920" cy="502920"/>
          </a:xfrm>
          <a:prstGeom prst="ellipse">
            <a:avLst/>
          </a:prstGeom>
          <a:solidFill>
            <a:srgbClr val="1B2A4A"/>
          </a:solidFill>
          <a:ln/>
        </p:spPr>
      </p:sp>
      <p:sp>
        <p:nvSpPr>
          <p:cNvPr id="11" name="Text 9"/>
          <p:cNvSpPr/>
          <p:nvPr/>
        </p:nvSpPr>
        <p:spPr>
          <a:xfrm>
            <a:off x="777240" y="324612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508760" y="3127248"/>
            <a:ext cx="9875520" cy="36576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Operationalize the daily distribution LP</a:t>
            </a:r>
            <a:endParaRPr lang="en-US" sz="1500" dirty="0"/>
          </a:p>
        </p:txBody>
      </p:sp>
      <p:sp>
        <p:nvSpPr>
          <p:cNvPr id="13" name="Text 11"/>
          <p:cNvSpPr/>
          <p:nvPr/>
        </p:nvSpPr>
        <p:spPr>
          <a:xfrm>
            <a:off x="1508760" y="3474720"/>
            <a:ext cx="9875520" cy="502920"/>
          </a:xfrm>
          <a:prstGeom prst="rect">
            <a:avLst/>
          </a:prstGeom>
          <a:noFill/>
          <a:ln/>
        </p:spPr>
        <p:txBody>
          <a:bodyPr wrap="square" rtlCol="0" anchor="ctr"/>
          <a:lstStyle/>
          <a:p>
            <a:pPr indent="0" marL="0">
              <a:lnSpc>
                <a:spcPts val="1500"/>
              </a:lnSpc>
              <a:buNone/>
            </a:pPr>
            <a:r>
              <a:rPr lang="en-US" sz="1200" dirty="0">
                <a:solidFill>
                  <a:srgbClr val="1B2130"/>
                </a:solidFill>
                <a:latin typeface="Calibri" pitchFamily="34" charset="0"/>
                <a:ea typeface="Calibri" pitchFamily="34" charset="-122"/>
                <a:cs typeface="Calibri" pitchFamily="34" charset="-120"/>
              </a:rPr>
              <a:t>Move the PuLP routing model from analysis to a scheduled daily job feeding the transportation planning team.</a:t>
            </a:r>
            <a:endParaRPr lang="en-US" sz="1200" dirty="0"/>
          </a:p>
        </p:txBody>
      </p:sp>
      <p:sp>
        <p:nvSpPr>
          <p:cNvPr id="14" name="Text 12"/>
          <p:cNvSpPr/>
          <p:nvPr/>
        </p:nvSpPr>
        <p:spPr>
          <a:xfrm>
            <a:off x="1508760" y="3977640"/>
            <a:ext cx="9875520" cy="548640"/>
          </a:xfrm>
          <a:prstGeom prst="rect">
            <a:avLst/>
          </a:prstGeom>
          <a:noFill/>
          <a:ln/>
        </p:spPr>
        <p:txBody>
          <a:bodyPr wrap="square" rtlCol="0" anchor="ctr"/>
          <a:lstStyle/>
          <a:p>
            <a:pPr indent="0" marL="0">
              <a:lnSpc>
                <a:spcPts val="1500"/>
              </a:lnSpc>
              <a:buNone/>
            </a:pPr>
            <a:r>
              <a:rPr lang="en-US" sz="1200" i="1" dirty="0">
                <a:solidFill>
                  <a:srgbClr val="1B7F79"/>
                </a:solidFill>
                <a:latin typeface="Calibri" pitchFamily="34" charset="0"/>
                <a:ea typeface="Calibri" pitchFamily="34" charset="-122"/>
                <a:cs typeface="Calibri" pitchFamily="34" charset="-120"/>
              </a:rPr>
              <a:t>ROI: ~$879 vs. current ad-hoc routing cost on this snapshot alone — projected to $30–45K/year at current volumes if the gap holds.</a:t>
            </a:r>
            <a:endParaRPr lang="en-US" sz="1200" dirty="0"/>
          </a:p>
        </p:txBody>
      </p:sp>
      <p:sp>
        <p:nvSpPr>
          <p:cNvPr id="15" name="Shape 13"/>
          <p:cNvSpPr/>
          <p:nvPr/>
        </p:nvSpPr>
        <p:spPr>
          <a:xfrm>
            <a:off x="548640" y="4800600"/>
            <a:ext cx="11064240" cy="1600200"/>
          </a:xfrm>
          <a:prstGeom prst="roundRect">
            <a:avLst>
              <a:gd name="adj" fmla="val 4571"/>
            </a:avLst>
          </a:prstGeom>
          <a:solidFill>
            <a:srgbClr val="F2F4F7"/>
          </a:solidFill>
          <a:ln/>
        </p:spPr>
      </p:sp>
      <p:sp>
        <p:nvSpPr>
          <p:cNvPr id="16" name="Shape 14"/>
          <p:cNvSpPr/>
          <p:nvPr/>
        </p:nvSpPr>
        <p:spPr>
          <a:xfrm>
            <a:off x="777240" y="5029200"/>
            <a:ext cx="502920" cy="502920"/>
          </a:xfrm>
          <a:prstGeom prst="ellipse">
            <a:avLst/>
          </a:prstGeom>
          <a:solidFill>
            <a:srgbClr val="1B2A4A"/>
          </a:solidFill>
          <a:ln/>
        </p:spPr>
      </p:sp>
      <p:sp>
        <p:nvSpPr>
          <p:cNvPr id="17" name="Text 15"/>
          <p:cNvSpPr/>
          <p:nvPr/>
        </p:nvSpPr>
        <p:spPr>
          <a:xfrm>
            <a:off x="777240" y="50292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508760" y="4910328"/>
            <a:ext cx="9875520" cy="36576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Extend the forecast pipeline to the full SKU portfolio</a:t>
            </a:r>
            <a:endParaRPr lang="en-US" sz="1500" dirty="0"/>
          </a:p>
        </p:txBody>
      </p:sp>
      <p:sp>
        <p:nvSpPr>
          <p:cNvPr id="19" name="Text 17"/>
          <p:cNvSpPr/>
          <p:nvPr/>
        </p:nvSpPr>
        <p:spPr>
          <a:xfrm>
            <a:off x="1508760" y="5257800"/>
            <a:ext cx="9875520" cy="502920"/>
          </a:xfrm>
          <a:prstGeom prst="rect">
            <a:avLst/>
          </a:prstGeom>
          <a:noFill/>
          <a:ln/>
        </p:spPr>
        <p:txBody>
          <a:bodyPr wrap="square" rtlCol="0" anchor="ctr"/>
          <a:lstStyle/>
          <a:p>
            <a:pPr indent="0" marL="0">
              <a:lnSpc>
                <a:spcPts val="1500"/>
              </a:lnSpc>
              <a:buNone/>
            </a:pPr>
            <a:r>
              <a:rPr lang="en-US" sz="1200" dirty="0">
                <a:solidFill>
                  <a:srgbClr val="1B2130"/>
                </a:solidFill>
                <a:latin typeface="Calibri" pitchFamily="34" charset="0"/>
                <a:ea typeface="Calibri" pitchFamily="34" charset="-122"/>
                <a:cs typeface="Calibri" pitchFamily="34" charset="-120"/>
              </a:rPr>
              <a:t>Replicate the Prophet + promotion-regressor approach across top 20 SKUs by revenue, prioritized by forecast difficulty.</a:t>
            </a:r>
            <a:endParaRPr lang="en-US" sz="1200" dirty="0"/>
          </a:p>
        </p:txBody>
      </p:sp>
      <p:sp>
        <p:nvSpPr>
          <p:cNvPr id="20" name="Text 18"/>
          <p:cNvSpPr/>
          <p:nvPr/>
        </p:nvSpPr>
        <p:spPr>
          <a:xfrm>
            <a:off x="1508760" y="5760720"/>
            <a:ext cx="9875520" cy="548640"/>
          </a:xfrm>
          <a:prstGeom prst="rect">
            <a:avLst/>
          </a:prstGeom>
          <a:noFill/>
          <a:ln/>
        </p:spPr>
        <p:txBody>
          <a:bodyPr wrap="square" rtlCol="0" anchor="ctr"/>
          <a:lstStyle/>
          <a:p>
            <a:pPr indent="0" marL="0">
              <a:lnSpc>
                <a:spcPts val="1500"/>
              </a:lnSpc>
              <a:buNone/>
            </a:pPr>
            <a:r>
              <a:rPr lang="en-US" sz="1200" i="1" dirty="0">
                <a:solidFill>
                  <a:srgbClr val="1B7F79"/>
                </a:solidFill>
                <a:latin typeface="Calibri" pitchFamily="34" charset="0"/>
                <a:ea typeface="Calibri" pitchFamily="34" charset="-122"/>
                <a:cs typeface="Calibri" pitchFamily="34" charset="-120"/>
              </a:rPr>
              <a:t>ROI: est. 1–2 point reduction in overall carrying cost through fewer oversized "just-in-case" buffers, plus fewer expedited-freight rescues.</a:t>
            </a:r>
            <a:endParaRPr lang="en-US" sz="1200" dirty="0"/>
          </a:p>
        </p:txBody>
      </p:sp>
      <p:sp>
        <p:nvSpPr>
          <p:cNvPr id="22" name="Text 19"/>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23" name="Text 20"/>
          <p:cNvSpPr/>
          <p:nvPr/>
        </p:nvSpPr>
        <p:spPr>
          <a:xfrm>
            <a:off x="7159752" y="6510528"/>
            <a:ext cx="45720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Quarterly Operations Review — Confidential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Appendix — Anticipated Q&amp;A</a:t>
            </a:r>
            <a:endParaRPr lang="en-US" sz="3000" dirty="0"/>
          </a:p>
        </p:txBody>
      </p:sp>
      <p:sp>
        <p:nvSpPr>
          <p:cNvPr id="3" name="Text 1"/>
          <p:cNvSpPr/>
          <p:nvPr/>
        </p:nvSpPr>
        <p:spPr>
          <a:xfrm>
            <a:off x="548640" y="1097280"/>
            <a:ext cx="3657600" cy="274320"/>
          </a:xfrm>
          <a:prstGeom prst="rect">
            <a:avLst/>
          </a:prstGeom>
          <a:noFill/>
          <a:ln/>
        </p:spPr>
        <p:txBody>
          <a:bodyPr wrap="square"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BACKUP SLIDE</a:t>
            </a:r>
            <a:endParaRPr lang="en-US" sz="1100" dirty="0"/>
          </a:p>
        </p:txBody>
      </p:sp>
      <p:sp>
        <p:nvSpPr>
          <p:cNvPr id="4" name="Shape 2"/>
          <p:cNvSpPr/>
          <p:nvPr/>
        </p:nvSpPr>
        <p:spPr>
          <a:xfrm>
            <a:off x="548640" y="1463040"/>
            <a:ext cx="11064240" cy="1097280"/>
          </a:xfrm>
          <a:prstGeom prst="roundRect">
            <a:avLst>
              <a:gd name="adj" fmla="val 6667"/>
            </a:avLst>
          </a:prstGeom>
          <a:solidFill>
            <a:srgbClr val="F2F4F7"/>
          </a:solidFill>
          <a:ln/>
        </p:spPr>
      </p:sp>
      <p:sp>
        <p:nvSpPr>
          <p:cNvPr id="5" name="Text 3"/>
          <p:cNvSpPr/>
          <p:nvPr/>
        </p:nvSpPr>
        <p:spPr>
          <a:xfrm>
            <a:off x="822960" y="1600200"/>
            <a:ext cx="10515600" cy="320040"/>
          </a:xfrm>
          <a:prstGeom prst="rect">
            <a:avLst/>
          </a:prstGeom>
          <a:noFill/>
          <a:ln/>
        </p:spPr>
        <p:txBody>
          <a:bodyPr wrap="square" rtlCol="0" anchor="ctr"/>
          <a:lstStyle/>
          <a:p>
            <a:pPr indent="0" marL="0">
              <a:buNone/>
            </a:pPr>
            <a:r>
              <a:rPr lang="en-US" sz="1300" b="1" dirty="0">
                <a:solidFill>
                  <a:srgbClr val="C97A2B"/>
                </a:solidFill>
                <a:latin typeface="Calibri" pitchFamily="34" charset="0"/>
                <a:ea typeface="Calibri" pitchFamily="34" charset="-122"/>
                <a:cs typeface="Calibri" pitchFamily="34" charset="-120"/>
              </a:rPr>
              <a:t>CFO — Anticipated Question</a:t>
            </a:r>
            <a:endParaRPr lang="en-US" sz="1300" dirty="0"/>
          </a:p>
        </p:txBody>
      </p:sp>
      <p:sp>
        <p:nvSpPr>
          <p:cNvPr id="6" name="Text 4"/>
          <p:cNvSpPr/>
          <p:nvPr/>
        </p:nvSpPr>
        <p:spPr>
          <a:xfrm>
            <a:off x="822960" y="1920240"/>
            <a:ext cx="10515600" cy="548640"/>
          </a:xfrm>
          <a:prstGeom prst="rect">
            <a:avLst/>
          </a:prstGeom>
          <a:noFill/>
          <a:ln/>
        </p:spPr>
        <p:txBody>
          <a:bodyPr wrap="square" rtlCol="0" anchor="ctr"/>
          <a:lstStyle/>
          <a:p>
            <a:pPr indent="0" marL="0">
              <a:buNone/>
            </a:pPr>
            <a:r>
              <a:rPr lang="en-US" sz="1600" i="1" dirty="0">
                <a:solidFill>
                  <a:srgbClr val="1B2A4A"/>
                </a:solidFill>
                <a:latin typeface="Calibri" pitchFamily="34" charset="0"/>
                <a:ea typeface="Calibri" pitchFamily="34" charset="-122"/>
                <a:cs typeface="Calibri" pitchFamily="34" charset="-120"/>
              </a:rPr>
              <a:t>“Why do we need to carry so much safety stock? Isn’t that just cash sitting on a shelf?”</a:t>
            </a:r>
            <a:endParaRPr lang="en-US" sz="1600" dirty="0"/>
          </a:p>
        </p:txBody>
      </p:sp>
      <p:sp>
        <p:nvSpPr>
          <p:cNvPr id="7" name="Text 5"/>
          <p:cNvSpPr/>
          <p:nvPr/>
        </p:nvSpPr>
        <p:spPr>
          <a:xfrm>
            <a:off x="548640" y="2788920"/>
            <a:ext cx="3657600" cy="320040"/>
          </a:xfrm>
          <a:prstGeom prst="rect">
            <a:avLst/>
          </a:prstGeom>
          <a:noFill/>
          <a:ln/>
        </p:spPr>
        <p:txBody>
          <a:bodyPr wrap="square" rtlCol="0" anchor="ctr"/>
          <a:lstStyle/>
          <a:p>
            <a:pPr indent="0" marL="0">
              <a:buNone/>
            </a:pPr>
            <a:r>
              <a:rPr lang="en-US" sz="1300" b="1" spc="100" kern="0" dirty="0">
                <a:solidFill>
                  <a:srgbClr val="1B7F79"/>
                </a:solidFill>
                <a:latin typeface="Calibri" pitchFamily="34" charset="0"/>
                <a:ea typeface="Calibri" pitchFamily="34" charset="-122"/>
                <a:cs typeface="Calibri" pitchFamily="34" charset="-120"/>
              </a:rPr>
              <a:t>Answer</a:t>
            </a:r>
            <a:endParaRPr lang="en-US" sz="1300" dirty="0"/>
          </a:p>
        </p:txBody>
      </p:sp>
      <p:sp>
        <p:nvSpPr>
          <p:cNvPr id="8" name="Text 6"/>
          <p:cNvSpPr/>
          <p:nvPr/>
        </p:nvSpPr>
        <p:spPr>
          <a:xfrm>
            <a:off x="548640" y="3154680"/>
            <a:ext cx="11064240" cy="3108960"/>
          </a:xfrm>
          <a:prstGeom prst="rect">
            <a:avLst/>
          </a:prstGeom>
          <a:noFill/>
          <a:ln/>
        </p:spPr>
        <p:txBody>
          <a:bodyPr wrap="square" rtlCol="0" anchor="ctr"/>
          <a:lstStyle/>
          <a:p>
            <a:pPr marL="342900" indent="-342900">
              <a:lnSpc>
                <a:spcPts val="2100"/>
              </a:lnSpc>
              <a:spcAft>
                <a:spcPts val="800"/>
              </a:spcAft>
              <a:buSzPct val="100000"/>
              <a:buChar char="•"/>
            </a:pPr>
            <a:r>
              <a:rPr lang="en-US" sz="1400" dirty="0">
                <a:solidFill>
                  <a:srgbClr val="1B2130"/>
                </a:solidFill>
                <a:latin typeface="Calibri" pitchFamily="34" charset="0"/>
                <a:ea typeface="Calibri" pitchFamily="34" charset="-122"/>
                <a:cs typeface="Calibri" pitchFamily="34" charset="-120"/>
              </a:rPr>
              <a:t>163 units of safety stock is not a round-number cushion — it's the minimum buffer the math says we need at a 95% service level, sized directly from our actual forecast error.</a:t>
            </a:r>
            <a:endParaRPr lang="en-US" sz="1400" dirty="0"/>
          </a:p>
          <a:p>
            <a:pPr marL="342900" indent="-342900">
              <a:lnSpc>
                <a:spcPts val="2100"/>
              </a:lnSpc>
              <a:spcAft>
                <a:spcPts val="800"/>
              </a:spcAft>
              <a:buSzPct val="100000"/>
              <a:buChar char="•"/>
            </a:pPr>
            <a:r>
              <a:rPr lang="en-US" sz="1400" dirty="0">
                <a:solidFill>
                  <a:srgbClr val="1B2130"/>
                </a:solidFill>
                <a:latin typeface="Calibri" pitchFamily="34" charset="0"/>
                <a:ea typeface="Calibri" pitchFamily="34" charset="-122"/>
                <a:cs typeface="Calibri" pitchFamily="34" charset="-120"/>
              </a:rPr>
              <a:t>The alternative isn't zero safety stock at zero cost — it's a ~49% chance of stocking out each cycle, which costs lost sales, expedited freight, and customer trust, all of which are more expensive than the carrying cost of 163 units.</a:t>
            </a:r>
            <a:endParaRPr lang="en-US" sz="1400" dirty="0"/>
          </a:p>
          <a:p>
            <a:pPr marL="342900" indent="-342900">
              <a:lnSpc>
                <a:spcPts val="2100"/>
              </a:lnSpc>
              <a:spcAft>
                <a:spcPts val="800"/>
              </a:spcAft>
              <a:buSzPct val="100000"/>
              <a:buChar char="•"/>
            </a:pPr>
            <a:r>
              <a:rPr lang="en-US" sz="1400" dirty="0">
                <a:solidFill>
                  <a:srgbClr val="1B2130"/>
                </a:solidFill>
                <a:latin typeface="Calibri" pitchFamily="34" charset="0"/>
                <a:ea typeface="Calibri" pitchFamily="34" charset="-122"/>
                <a:cs typeface="Calibri" pitchFamily="34" charset="-120"/>
              </a:rPr>
              <a:t>This is a right-sizing exercise, not a stockpiling one: we deliberately derived the buffer from forecast error rather than a blanket "X weeks of cover" rule, which typically over-buffers low-variability SKUs and under-buffers high-variability ones.</a:t>
            </a:r>
            <a:endParaRPr lang="en-US" sz="1400" dirty="0"/>
          </a:p>
          <a:p>
            <a:pPr marL="342900" indent="-342900">
              <a:lnSpc>
                <a:spcPts val="2100"/>
              </a:lnSpc>
              <a:buSzPct val="100000"/>
              <a:buChar char="•"/>
            </a:pPr>
            <a:r>
              <a:rPr lang="en-US" sz="1400" dirty="0">
                <a:solidFill>
                  <a:srgbClr val="1B2130"/>
                </a:solidFill>
                <a:latin typeface="Calibri" pitchFamily="34" charset="0"/>
                <a:ea typeface="Calibri" pitchFamily="34" charset="-122"/>
                <a:cs typeface="Calibri" pitchFamily="34" charset="-120"/>
              </a:rPr>
              <a:t>We can dial the service level — dropping to 90% roughly halves the required buffer, if the committee wants to trade some stock-out risk for lower carrying cost; happy to bring that sensitivity analysis back next cycle.</a:t>
            </a:r>
            <a:endParaRPr lang="en-US" sz="1400" dirty="0"/>
          </a:p>
        </p:txBody>
      </p:sp>
      <p:sp>
        <p:nvSpPr>
          <p:cNvPr id="10" name="Text 7"/>
          <p:cNvSpPr/>
          <p:nvPr/>
        </p:nvSpPr>
        <p:spPr>
          <a:xfrm>
            <a:off x="457200" y="651052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Appendix</a:t>
            </a:r>
            <a:endParaRPr lang="en-US" sz="1000" dirty="0"/>
          </a:p>
        </p:txBody>
      </p:sp>
      <p:sp>
        <p:nvSpPr>
          <p:cNvPr id="11" name="Text 8"/>
          <p:cNvSpPr/>
          <p:nvPr/>
        </p:nvSpPr>
        <p:spPr>
          <a:xfrm>
            <a:off x="7159752" y="6510528"/>
            <a:ext cx="45720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Quarterly Operations Review — Confidential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2026-08-06T08:05:17Z</dcterms:created>
  <dcterms:modified xsi:type="dcterms:W3CDTF">2026-08-06T08:05:17Z</dcterms:modified>
</cp:coreProperties>
</file>